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roxima Nova Bold" charset="1" panose="02000506030000020004"/>
      <p:regular r:id="rId18"/>
    </p:embeddedFont>
    <p:embeddedFont>
      <p:font typeface="Proxima Nova" charset="1" panose="020005060300000200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png" Type="http://schemas.openxmlformats.org/officeDocument/2006/relationships/image"/><Relationship Id="rId12" Target="../media/image20.pn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png" Type="http://schemas.openxmlformats.org/officeDocument/2006/relationships/image"/><Relationship Id="rId12" Target="../media/image23.png" Type="http://schemas.openxmlformats.org/officeDocument/2006/relationships/image"/><Relationship Id="rId13" Target="../media/image24.png" Type="http://schemas.openxmlformats.org/officeDocument/2006/relationships/image"/><Relationship Id="rId14" Target="../media/image25.pn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png" Type="http://schemas.openxmlformats.org/officeDocument/2006/relationships/image"/><Relationship Id="rId12" Target="../media/image28.png" Type="http://schemas.openxmlformats.org/officeDocument/2006/relationships/image"/><Relationship Id="rId13" Target="../media/image29.pn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png" Type="http://schemas.openxmlformats.org/officeDocument/2006/relationships/image"/><Relationship Id="rId12" Target="../media/image32.png" Type="http://schemas.openxmlformats.org/officeDocument/2006/relationships/image"/><Relationship Id="rId13" Target="../media/image33.png" Type="http://schemas.openxmlformats.org/officeDocument/2006/relationships/image"/><Relationship Id="rId14" Target="../media/image34.svg" Type="http://schemas.openxmlformats.org/officeDocument/2006/relationships/image"/><Relationship Id="rId15" Target="../media/image35.png" Type="http://schemas.openxmlformats.org/officeDocument/2006/relationships/image"/><Relationship Id="rId16" Target="../media/image3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png" Type="http://schemas.openxmlformats.org/officeDocument/2006/relationships/image"/><Relationship Id="rId12" Target="../embeddings/oleObject1.bin" Type="http://schemas.openxmlformats.org/officeDocument/2006/relationships/oleObjec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embeddings/oleObject2.bin" Type="http://schemas.openxmlformats.org/officeDocument/2006/relationships/oleObjec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jpeg" Type="http://schemas.openxmlformats.org/officeDocument/2006/relationships/image"/><Relationship Id="rId11" Target="../media/VAHB21noblg.mp4" Type="http://schemas.openxmlformats.org/officeDocument/2006/relationships/video"/><Relationship Id="rId12" Target="../media/VAHB21noblg.mp4" Type="http://schemas.microsoft.com/office/2007/relationships/media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2" Target="../media/image44.png" Type="http://schemas.openxmlformats.org/officeDocument/2006/relationships/image"/><Relationship Id="rId3" Target="../media/image45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596961">
            <a:off x="-1432340" y="6872827"/>
            <a:ext cx="4389359" cy="4373398"/>
          </a:xfrm>
          <a:custGeom>
            <a:avLst/>
            <a:gdLst/>
            <a:ahLst/>
            <a:cxnLst/>
            <a:rect r="r" b="b" t="t" l="l"/>
            <a:pathLst>
              <a:path h="4373398" w="4389359">
                <a:moveTo>
                  <a:pt x="0" y="0"/>
                </a:moveTo>
                <a:lnTo>
                  <a:pt x="4389360" y="0"/>
                </a:lnTo>
                <a:lnTo>
                  <a:pt x="4389360" y="4373398"/>
                </a:lnTo>
                <a:lnTo>
                  <a:pt x="0" y="4373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201367">
            <a:off x="714950" y="8429479"/>
            <a:ext cx="3625255" cy="4816160"/>
          </a:xfrm>
          <a:custGeom>
            <a:avLst/>
            <a:gdLst/>
            <a:ahLst/>
            <a:cxnLst/>
            <a:rect r="r" b="b" t="t" l="l"/>
            <a:pathLst>
              <a:path h="4816160" w="3625255">
                <a:moveTo>
                  <a:pt x="0" y="0"/>
                </a:moveTo>
                <a:lnTo>
                  <a:pt x="3625255" y="0"/>
                </a:lnTo>
                <a:lnTo>
                  <a:pt x="3625255" y="4816161"/>
                </a:lnTo>
                <a:lnTo>
                  <a:pt x="0" y="48161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123381">
            <a:off x="15383533" y="-370895"/>
            <a:ext cx="3980134" cy="4114800"/>
          </a:xfrm>
          <a:custGeom>
            <a:avLst/>
            <a:gdLst/>
            <a:ahLst/>
            <a:cxnLst/>
            <a:rect r="r" b="b" t="t" l="l"/>
            <a:pathLst>
              <a:path h="4114800" w="3980134">
                <a:moveTo>
                  <a:pt x="0" y="0"/>
                </a:moveTo>
                <a:lnTo>
                  <a:pt x="3980134" y="0"/>
                </a:lnTo>
                <a:lnTo>
                  <a:pt x="39801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395011">
            <a:off x="13558858" y="-1158072"/>
            <a:ext cx="2921537" cy="3881268"/>
          </a:xfrm>
          <a:custGeom>
            <a:avLst/>
            <a:gdLst/>
            <a:ahLst/>
            <a:cxnLst/>
            <a:rect r="r" b="b" t="t" l="l"/>
            <a:pathLst>
              <a:path h="3881268" w="2921537">
                <a:moveTo>
                  <a:pt x="0" y="0"/>
                </a:moveTo>
                <a:lnTo>
                  <a:pt x="2921536" y="0"/>
                </a:lnTo>
                <a:lnTo>
                  <a:pt x="2921536" y="3881269"/>
                </a:lnTo>
                <a:lnTo>
                  <a:pt x="0" y="38812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2960663"/>
            <a:ext cx="462452" cy="424180"/>
          </a:xfrm>
          <a:custGeom>
            <a:avLst/>
            <a:gdLst/>
            <a:ahLst/>
            <a:cxnLst/>
            <a:rect r="r" b="b" t="t" l="l"/>
            <a:pathLst>
              <a:path h="424180" w="462452">
                <a:moveTo>
                  <a:pt x="0" y="0"/>
                </a:moveTo>
                <a:lnTo>
                  <a:pt x="462452" y="0"/>
                </a:lnTo>
                <a:lnTo>
                  <a:pt x="462452" y="424180"/>
                </a:lnTo>
                <a:lnTo>
                  <a:pt x="0" y="4241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98393" t="-26863" r="-195829" b="-118296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3752646"/>
            <a:ext cx="16344900" cy="2386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00"/>
              </a:lnSpc>
            </a:pPr>
            <a:r>
              <a:rPr lang="en-US" b="true" sz="9200" spc="92">
                <a:solidFill>
                  <a:srgbClr val="0086B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ANALYSE ET MODÉLISATION BIG DATA AVEC PYSPARK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75051" y="2903513"/>
            <a:ext cx="636260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Université Paris 1 Panthéon-Sorbonne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01244" y="9662239"/>
            <a:ext cx="9382361" cy="42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 spc="32">
                <a:solidFill>
                  <a:srgbClr val="0086B3"/>
                </a:solidFill>
                <a:latin typeface="Proxima Nova"/>
                <a:ea typeface="Proxima Nova"/>
                <a:cs typeface="Proxima Nova"/>
                <a:sym typeface="Proxima Nova"/>
              </a:rPr>
              <a:t>ALLISON Jacques, MANELLI Cédric, NADAT Sufyan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201469">
            <a:off x="-1165980" y="7429873"/>
            <a:ext cx="4389359" cy="4373398"/>
          </a:xfrm>
          <a:custGeom>
            <a:avLst/>
            <a:gdLst/>
            <a:ahLst/>
            <a:cxnLst/>
            <a:rect r="r" b="b" t="t" l="l"/>
            <a:pathLst>
              <a:path h="4373398" w="4389359">
                <a:moveTo>
                  <a:pt x="0" y="0"/>
                </a:moveTo>
                <a:lnTo>
                  <a:pt x="4389360" y="0"/>
                </a:lnTo>
                <a:lnTo>
                  <a:pt x="4389360" y="4373398"/>
                </a:lnTo>
                <a:lnTo>
                  <a:pt x="0" y="4373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089119">
            <a:off x="991678" y="9138498"/>
            <a:ext cx="3484112" cy="2787289"/>
          </a:xfrm>
          <a:custGeom>
            <a:avLst/>
            <a:gdLst/>
            <a:ahLst/>
            <a:cxnLst/>
            <a:rect r="r" b="b" t="t" l="l"/>
            <a:pathLst>
              <a:path h="2787289" w="3484112">
                <a:moveTo>
                  <a:pt x="0" y="0"/>
                </a:moveTo>
                <a:lnTo>
                  <a:pt x="3484112" y="0"/>
                </a:lnTo>
                <a:lnTo>
                  <a:pt x="3484112" y="2787289"/>
                </a:lnTo>
                <a:lnTo>
                  <a:pt x="0" y="2787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026593">
            <a:off x="15481612" y="-521355"/>
            <a:ext cx="3555375" cy="4205283"/>
          </a:xfrm>
          <a:custGeom>
            <a:avLst/>
            <a:gdLst/>
            <a:ahLst/>
            <a:cxnLst/>
            <a:rect r="r" b="b" t="t" l="l"/>
            <a:pathLst>
              <a:path h="4205283" w="3555375">
                <a:moveTo>
                  <a:pt x="0" y="0"/>
                </a:moveTo>
                <a:lnTo>
                  <a:pt x="3555376" y="0"/>
                </a:lnTo>
                <a:lnTo>
                  <a:pt x="3555376" y="4205282"/>
                </a:lnTo>
                <a:lnTo>
                  <a:pt x="0" y="42052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2827656">
            <a:off x="14119950" y="-1318357"/>
            <a:ext cx="3484112" cy="2787289"/>
          </a:xfrm>
          <a:custGeom>
            <a:avLst/>
            <a:gdLst/>
            <a:ahLst/>
            <a:cxnLst/>
            <a:rect r="r" b="b" t="t" l="l"/>
            <a:pathLst>
              <a:path h="2787289" w="3484112">
                <a:moveTo>
                  <a:pt x="3484112" y="2787289"/>
                </a:moveTo>
                <a:lnTo>
                  <a:pt x="0" y="2787289"/>
                </a:lnTo>
                <a:lnTo>
                  <a:pt x="0" y="0"/>
                </a:lnTo>
                <a:lnTo>
                  <a:pt x="3484112" y="0"/>
                </a:lnTo>
                <a:lnTo>
                  <a:pt x="3484112" y="278728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947613" y="4410633"/>
            <a:ext cx="4752689" cy="3277716"/>
          </a:xfrm>
          <a:custGeom>
            <a:avLst/>
            <a:gdLst/>
            <a:ahLst/>
            <a:cxnLst/>
            <a:rect r="r" b="b" t="t" l="l"/>
            <a:pathLst>
              <a:path h="3277716" w="4752689">
                <a:moveTo>
                  <a:pt x="0" y="0"/>
                </a:moveTo>
                <a:lnTo>
                  <a:pt x="4752689" y="0"/>
                </a:lnTo>
                <a:lnTo>
                  <a:pt x="4752689" y="3277716"/>
                </a:lnTo>
                <a:lnTo>
                  <a:pt x="0" y="327771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91890" y="3827421"/>
            <a:ext cx="11301259" cy="1907087"/>
          </a:xfrm>
          <a:custGeom>
            <a:avLst/>
            <a:gdLst/>
            <a:ahLst/>
            <a:cxnLst/>
            <a:rect r="r" b="b" t="t" l="l"/>
            <a:pathLst>
              <a:path h="1907087" w="11301259">
                <a:moveTo>
                  <a:pt x="0" y="0"/>
                </a:moveTo>
                <a:lnTo>
                  <a:pt x="11301259" y="0"/>
                </a:lnTo>
                <a:lnTo>
                  <a:pt x="11301259" y="1907088"/>
                </a:lnTo>
                <a:lnTo>
                  <a:pt x="0" y="190708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1890" y="7153441"/>
            <a:ext cx="11301259" cy="2104859"/>
          </a:xfrm>
          <a:custGeom>
            <a:avLst/>
            <a:gdLst/>
            <a:ahLst/>
            <a:cxnLst/>
            <a:rect r="r" b="b" t="t" l="l"/>
            <a:pathLst>
              <a:path h="2104859" w="11301259">
                <a:moveTo>
                  <a:pt x="0" y="0"/>
                </a:moveTo>
                <a:lnTo>
                  <a:pt x="11301259" y="0"/>
                </a:lnTo>
                <a:lnTo>
                  <a:pt x="11301259" y="2104859"/>
                </a:lnTo>
                <a:lnTo>
                  <a:pt x="0" y="210485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022360" y="6049491"/>
            <a:ext cx="840321" cy="840321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1F294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203200" y="-66675"/>
              <a:ext cx="406400" cy="777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1534800"/>
            <a:ext cx="6596907" cy="165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b="true" sz="6399" spc="63">
                <a:solidFill>
                  <a:srgbClr val="0086B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EXPLORATION &amp; PRÉTRAITEMENT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82096" y="642196"/>
            <a:ext cx="9323809" cy="165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99"/>
              </a:lnSpc>
            </a:pPr>
            <a:r>
              <a:rPr lang="en-US" b="true" sz="6399" spc="63">
                <a:solidFill>
                  <a:srgbClr val="0086B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EXPLORATION &amp; PRÉTRAITEMENT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919336" y="2931926"/>
            <a:ext cx="6741165" cy="1319556"/>
            <a:chOff x="0" y="0"/>
            <a:chExt cx="1775451" cy="34753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75451" cy="347537"/>
            </a:xfrm>
            <a:custGeom>
              <a:avLst/>
              <a:gdLst/>
              <a:ahLst/>
              <a:cxnLst/>
              <a:rect r="r" b="b" t="t" l="l"/>
              <a:pathLst>
                <a:path h="347537" w="1775451">
                  <a:moveTo>
                    <a:pt x="11485" y="0"/>
                  </a:moveTo>
                  <a:lnTo>
                    <a:pt x="1763966" y="0"/>
                  </a:lnTo>
                  <a:cubicBezTo>
                    <a:pt x="1767012" y="0"/>
                    <a:pt x="1769933" y="1210"/>
                    <a:pt x="1772087" y="3364"/>
                  </a:cubicBezTo>
                  <a:cubicBezTo>
                    <a:pt x="1774241" y="5518"/>
                    <a:pt x="1775451" y="8439"/>
                    <a:pt x="1775451" y="11485"/>
                  </a:cubicBezTo>
                  <a:lnTo>
                    <a:pt x="1775451" y="336053"/>
                  </a:lnTo>
                  <a:cubicBezTo>
                    <a:pt x="1775451" y="339099"/>
                    <a:pt x="1774241" y="342020"/>
                    <a:pt x="1772087" y="344174"/>
                  </a:cubicBezTo>
                  <a:cubicBezTo>
                    <a:pt x="1769933" y="346327"/>
                    <a:pt x="1767012" y="347537"/>
                    <a:pt x="1763966" y="347537"/>
                  </a:cubicBezTo>
                  <a:lnTo>
                    <a:pt x="11485" y="347537"/>
                  </a:lnTo>
                  <a:cubicBezTo>
                    <a:pt x="5142" y="347537"/>
                    <a:pt x="0" y="342395"/>
                    <a:pt x="0" y="336053"/>
                  </a:cubicBezTo>
                  <a:lnTo>
                    <a:pt x="0" y="11485"/>
                  </a:lnTo>
                  <a:cubicBezTo>
                    <a:pt x="0" y="8439"/>
                    <a:pt x="1210" y="5518"/>
                    <a:pt x="3364" y="3364"/>
                  </a:cubicBezTo>
                  <a:cubicBezTo>
                    <a:pt x="5518" y="1210"/>
                    <a:pt x="8439" y="0"/>
                    <a:pt x="11485" y="0"/>
                  </a:cubicBezTo>
                  <a:close/>
                </a:path>
              </a:pathLst>
            </a:custGeom>
            <a:solidFill>
              <a:srgbClr val="9FCFF9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1775451" cy="357062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120"/>
                </a:lnSpc>
              </a:pPr>
              <a:r>
                <a:rPr lang="en-US" b="true" sz="2600" spc="26">
                  <a:solidFill>
                    <a:srgbClr val="1F294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STATISTIQUES DESCRIPTIVES DE BASE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4201469">
            <a:off x="-1185030" y="7429873"/>
            <a:ext cx="4389359" cy="4373398"/>
          </a:xfrm>
          <a:custGeom>
            <a:avLst/>
            <a:gdLst/>
            <a:ahLst/>
            <a:cxnLst/>
            <a:rect r="r" b="b" t="t" l="l"/>
            <a:pathLst>
              <a:path h="4373398" w="4389359">
                <a:moveTo>
                  <a:pt x="0" y="0"/>
                </a:moveTo>
                <a:lnTo>
                  <a:pt x="4389360" y="0"/>
                </a:lnTo>
                <a:lnTo>
                  <a:pt x="4389360" y="4373398"/>
                </a:lnTo>
                <a:lnTo>
                  <a:pt x="0" y="4373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4089119">
            <a:off x="972628" y="9138498"/>
            <a:ext cx="3484112" cy="2787289"/>
          </a:xfrm>
          <a:custGeom>
            <a:avLst/>
            <a:gdLst/>
            <a:ahLst/>
            <a:cxnLst/>
            <a:rect r="r" b="b" t="t" l="l"/>
            <a:pathLst>
              <a:path h="2787289" w="3484112">
                <a:moveTo>
                  <a:pt x="0" y="0"/>
                </a:moveTo>
                <a:lnTo>
                  <a:pt x="3484112" y="0"/>
                </a:lnTo>
                <a:lnTo>
                  <a:pt x="3484112" y="2787289"/>
                </a:lnTo>
                <a:lnTo>
                  <a:pt x="0" y="2787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0026593">
            <a:off x="15481612" y="-521355"/>
            <a:ext cx="3555375" cy="4205283"/>
          </a:xfrm>
          <a:custGeom>
            <a:avLst/>
            <a:gdLst/>
            <a:ahLst/>
            <a:cxnLst/>
            <a:rect r="r" b="b" t="t" l="l"/>
            <a:pathLst>
              <a:path h="4205283" w="3555375">
                <a:moveTo>
                  <a:pt x="0" y="0"/>
                </a:moveTo>
                <a:lnTo>
                  <a:pt x="3555376" y="0"/>
                </a:lnTo>
                <a:lnTo>
                  <a:pt x="3555376" y="4205282"/>
                </a:lnTo>
                <a:lnTo>
                  <a:pt x="0" y="42052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-2827656">
            <a:off x="14119950" y="-1318357"/>
            <a:ext cx="3484112" cy="2787289"/>
          </a:xfrm>
          <a:custGeom>
            <a:avLst/>
            <a:gdLst/>
            <a:ahLst/>
            <a:cxnLst/>
            <a:rect r="r" b="b" t="t" l="l"/>
            <a:pathLst>
              <a:path h="2787289" w="3484112">
                <a:moveTo>
                  <a:pt x="3484112" y="2787289"/>
                </a:moveTo>
                <a:lnTo>
                  <a:pt x="0" y="2787289"/>
                </a:lnTo>
                <a:lnTo>
                  <a:pt x="0" y="0"/>
                </a:lnTo>
                <a:lnTo>
                  <a:pt x="3484112" y="0"/>
                </a:lnTo>
                <a:lnTo>
                  <a:pt x="3484112" y="278728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5708403" y="2931926"/>
            <a:ext cx="4753733" cy="1319556"/>
            <a:chOff x="0" y="0"/>
            <a:chExt cx="1252012" cy="34753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52012" cy="347537"/>
            </a:xfrm>
            <a:custGeom>
              <a:avLst/>
              <a:gdLst/>
              <a:ahLst/>
              <a:cxnLst/>
              <a:rect r="r" b="b" t="t" l="l"/>
              <a:pathLst>
                <a:path h="347537" w="1252012">
                  <a:moveTo>
                    <a:pt x="16286" y="0"/>
                  </a:moveTo>
                  <a:lnTo>
                    <a:pt x="1235726" y="0"/>
                  </a:lnTo>
                  <a:cubicBezTo>
                    <a:pt x="1244721" y="0"/>
                    <a:pt x="1252012" y="7291"/>
                    <a:pt x="1252012" y="16286"/>
                  </a:cubicBezTo>
                  <a:lnTo>
                    <a:pt x="1252012" y="331251"/>
                  </a:lnTo>
                  <a:cubicBezTo>
                    <a:pt x="1252012" y="335571"/>
                    <a:pt x="1250296" y="339713"/>
                    <a:pt x="1247242" y="342767"/>
                  </a:cubicBezTo>
                  <a:cubicBezTo>
                    <a:pt x="1244188" y="345821"/>
                    <a:pt x="1240045" y="347537"/>
                    <a:pt x="1235726" y="347537"/>
                  </a:cubicBezTo>
                  <a:lnTo>
                    <a:pt x="16286" y="347537"/>
                  </a:lnTo>
                  <a:cubicBezTo>
                    <a:pt x="11967" y="347537"/>
                    <a:pt x="7824" y="345821"/>
                    <a:pt x="4770" y="342767"/>
                  </a:cubicBezTo>
                  <a:cubicBezTo>
                    <a:pt x="1716" y="339713"/>
                    <a:pt x="0" y="335571"/>
                    <a:pt x="0" y="331251"/>
                  </a:cubicBezTo>
                  <a:lnTo>
                    <a:pt x="0" y="16286"/>
                  </a:lnTo>
                  <a:cubicBezTo>
                    <a:pt x="0" y="11967"/>
                    <a:pt x="1716" y="7824"/>
                    <a:pt x="4770" y="4770"/>
                  </a:cubicBezTo>
                  <a:cubicBezTo>
                    <a:pt x="7824" y="1716"/>
                    <a:pt x="11967" y="0"/>
                    <a:pt x="16286" y="0"/>
                  </a:cubicBezTo>
                  <a:close/>
                </a:path>
              </a:pathLst>
            </a:custGeom>
            <a:solidFill>
              <a:srgbClr val="9FCFF9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252012" cy="357062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120"/>
                </a:lnSpc>
              </a:pPr>
              <a:r>
                <a:rPr lang="en-US" b="true" sz="2600" spc="26">
                  <a:solidFill>
                    <a:srgbClr val="1F294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VALEURS MANQUANTES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515665" y="4575092"/>
            <a:ext cx="4733099" cy="1412496"/>
          </a:xfrm>
          <a:custGeom>
            <a:avLst/>
            <a:gdLst/>
            <a:ahLst/>
            <a:cxnLst/>
            <a:rect r="r" b="b" t="t" l="l"/>
            <a:pathLst>
              <a:path h="1412496" w="4733099">
                <a:moveTo>
                  <a:pt x="0" y="0"/>
                </a:moveTo>
                <a:lnTo>
                  <a:pt x="4733099" y="0"/>
                </a:lnTo>
                <a:lnTo>
                  <a:pt x="4733099" y="1412496"/>
                </a:lnTo>
                <a:lnTo>
                  <a:pt x="0" y="14124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708403" y="4575092"/>
            <a:ext cx="4753733" cy="3263156"/>
          </a:xfrm>
          <a:custGeom>
            <a:avLst/>
            <a:gdLst/>
            <a:ahLst/>
            <a:cxnLst/>
            <a:rect r="r" b="b" t="t" l="l"/>
            <a:pathLst>
              <a:path h="3263156" w="4753733">
                <a:moveTo>
                  <a:pt x="0" y="0"/>
                </a:moveTo>
                <a:lnTo>
                  <a:pt x="4753733" y="0"/>
                </a:lnTo>
                <a:lnTo>
                  <a:pt x="4753733" y="3263156"/>
                </a:lnTo>
                <a:lnTo>
                  <a:pt x="0" y="326315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515665" y="2931926"/>
            <a:ext cx="4733099" cy="1319556"/>
            <a:chOff x="0" y="0"/>
            <a:chExt cx="1246578" cy="34753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46578" cy="347537"/>
            </a:xfrm>
            <a:custGeom>
              <a:avLst/>
              <a:gdLst/>
              <a:ahLst/>
              <a:cxnLst/>
              <a:rect r="r" b="b" t="t" l="l"/>
              <a:pathLst>
                <a:path h="347537" w="1246578">
                  <a:moveTo>
                    <a:pt x="16357" y="0"/>
                  </a:moveTo>
                  <a:lnTo>
                    <a:pt x="1230221" y="0"/>
                  </a:lnTo>
                  <a:cubicBezTo>
                    <a:pt x="1239254" y="0"/>
                    <a:pt x="1246578" y="7323"/>
                    <a:pt x="1246578" y="16357"/>
                  </a:cubicBezTo>
                  <a:lnTo>
                    <a:pt x="1246578" y="331180"/>
                  </a:lnTo>
                  <a:cubicBezTo>
                    <a:pt x="1246578" y="335518"/>
                    <a:pt x="1244854" y="339679"/>
                    <a:pt x="1241787" y="342746"/>
                  </a:cubicBezTo>
                  <a:cubicBezTo>
                    <a:pt x="1238719" y="345814"/>
                    <a:pt x="1234559" y="347537"/>
                    <a:pt x="1230221" y="347537"/>
                  </a:cubicBezTo>
                  <a:lnTo>
                    <a:pt x="16357" y="347537"/>
                  </a:lnTo>
                  <a:cubicBezTo>
                    <a:pt x="7323" y="347537"/>
                    <a:pt x="0" y="340214"/>
                    <a:pt x="0" y="331180"/>
                  </a:cubicBezTo>
                  <a:lnTo>
                    <a:pt x="0" y="16357"/>
                  </a:lnTo>
                  <a:cubicBezTo>
                    <a:pt x="0" y="7323"/>
                    <a:pt x="7323" y="0"/>
                    <a:pt x="16357" y="0"/>
                  </a:cubicBezTo>
                  <a:close/>
                </a:path>
              </a:pathLst>
            </a:custGeom>
            <a:solidFill>
              <a:srgbClr val="9FCFF9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1246578" cy="357062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120"/>
                </a:lnSpc>
              </a:pPr>
              <a:r>
                <a:rPr lang="en-US" b="true" sz="2600" spc="26">
                  <a:solidFill>
                    <a:srgbClr val="1F294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DONNÉES GÉNÉRALES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0919336" y="4575092"/>
            <a:ext cx="1372452" cy="2855809"/>
          </a:xfrm>
          <a:custGeom>
            <a:avLst/>
            <a:gdLst/>
            <a:ahLst/>
            <a:cxnLst/>
            <a:rect r="r" b="b" t="t" l="l"/>
            <a:pathLst>
              <a:path h="2855809" w="1372452">
                <a:moveTo>
                  <a:pt x="0" y="0"/>
                </a:moveTo>
                <a:lnTo>
                  <a:pt x="1372452" y="0"/>
                </a:lnTo>
                <a:lnTo>
                  <a:pt x="1372452" y="2855810"/>
                </a:lnTo>
                <a:lnTo>
                  <a:pt x="0" y="285581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282263" y="4575092"/>
            <a:ext cx="2700295" cy="2855809"/>
          </a:xfrm>
          <a:custGeom>
            <a:avLst/>
            <a:gdLst/>
            <a:ahLst/>
            <a:cxnLst/>
            <a:rect r="r" b="b" t="t" l="l"/>
            <a:pathLst>
              <a:path h="2855809" w="2700295">
                <a:moveTo>
                  <a:pt x="0" y="0"/>
                </a:moveTo>
                <a:lnTo>
                  <a:pt x="2700295" y="0"/>
                </a:lnTo>
                <a:lnTo>
                  <a:pt x="2700295" y="2855810"/>
                </a:lnTo>
                <a:lnTo>
                  <a:pt x="0" y="285581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973033" y="4575092"/>
            <a:ext cx="2687468" cy="2842243"/>
          </a:xfrm>
          <a:custGeom>
            <a:avLst/>
            <a:gdLst/>
            <a:ahLst/>
            <a:cxnLst/>
            <a:rect r="r" b="b" t="t" l="l"/>
            <a:pathLst>
              <a:path h="2842243" w="2687468">
                <a:moveTo>
                  <a:pt x="0" y="0"/>
                </a:moveTo>
                <a:lnTo>
                  <a:pt x="2687468" y="0"/>
                </a:lnTo>
                <a:lnTo>
                  <a:pt x="2687468" y="2842243"/>
                </a:lnTo>
                <a:lnTo>
                  <a:pt x="0" y="284224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089119">
            <a:off x="991678" y="9138498"/>
            <a:ext cx="3484112" cy="2787289"/>
          </a:xfrm>
          <a:custGeom>
            <a:avLst/>
            <a:gdLst/>
            <a:ahLst/>
            <a:cxnLst/>
            <a:rect r="r" b="b" t="t" l="l"/>
            <a:pathLst>
              <a:path h="2787289" w="3484112">
                <a:moveTo>
                  <a:pt x="0" y="0"/>
                </a:moveTo>
                <a:lnTo>
                  <a:pt x="3484112" y="0"/>
                </a:lnTo>
                <a:lnTo>
                  <a:pt x="3484112" y="2787289"/>
                </a:lnTo>
                <a:lnTo>
                  <a:pt x="0" y="27872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0026593">
            <a:off x="15481612" y="-521355"/>
            <a:ext cx="3555375" cy="4205283"/>
          </a:xfrm>
          <a:custGeom>
            <a:avLst/>
            <a:gdLst/>
            <a:ahLst/>
            <a:cxnLst/>
            <a:rect r="r" b="b" t="t" l="l"/>
            <a:pathLst>
              <a:path h="4205283" w="3555375">
                <a:moveTo>
                  <a:pt x="0" y="0"/>
                </a:moveTo>
                <a:lnTo>
                  <a:pt x="3555376" y="0"/>
                </a:lnTo>
                <a:lnTo>
                  <a:pt x="3555376" y="4205282"/>
                </a:lnTo>
                <a:lnTo>
                  <a:pt x="0" y="42052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-2827656">
            <a:off x="14119950" y="-1318357"/>
            <a:ext cx="3484112" cy="2787289"/>
          </a:xfrm>
          <a:custGeom>
            <a:avLst/>
            <a:gdLst/>
            <a:ahLst/>
            <a:cxnLst/>
            <a:rect r="r" b="b" t="t" l="l"/>
            <a:pathLst>
              <a:path h="2787289" w="3484112">
                <a:moveTo>
                  <a:pt x="3484112" y="2787289"/>
                </a:moveTo>
                <a:lnTo>
                  <a:pt x="0" y="2787289"/>
                </a:lnTo>
                <a:lnTo>
                  <a:pt x="0" y="0"/>
                </a:lnTo>
                <a:lnTo>
                  <a:pt x="3484112" y="0"/>
                </a:lnTo>
                <a:lnTo>
                  <a:pt x="3484112" y="278728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4201469">
            <a:off x="-1185030" y="7429873"/>
            <a:ext cx="4389359" cy="4373398"/>
          </a:xfrm>
          <a:custGeom>
            <a:avLst/>
            <a:gdLst/>
            <a:ahLst/>
            <a:cxnLst/>
            <a:rect r="r" b="b" t="t" l="l"/>
            <a:pathLst>
              <a:path h="4373398" w="4389359">
                <a:moveTo>
                  <a:pt x="0" y="0"/>
                </a:moveTo>
                <a:lnTo>
                  <a:pt x="4389360" y="0"/>
                </a:lnTo>
                <a:lnTo>
                  <a:pt x="4389360" y="4373398"/>
                </a:lnTo>
                <a:lnTo>
                  <a:pt x="0" y="43733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29915" y="3522345"/>
            <a:ext cx="14883497" cy="5711245"/>
            <a:chOff x="0" y="0"/>
            <a:chExt cx="19844663" cy="76149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874268" y="755176"/>
              <a:ext cx="9268253" cy="422822"/>
            </a:xfrm>
            <a:custGeom>
              <a:avLst/>
              <a:gdLst/>
              <a:ahLst/>
              <a:cxnLst/>
              <a:rect r="r" b="b" t="t" l="l"/>
              <a:pathLst>
                <a:path h="422822" w="9268253">
                  <a:moveTo>
                    <a:pt x="0" y="0"/>
                  </a:moveTo>
                  <a:lnTo>
                    <a:pt x="9268253" y="0"/>
                  </a:lnTo>
                  <a:lnTo>
                    <a:pt x="9268253" y="422822"/>
                  </a:lnTo>
                  <a:lnTo>
                    <a:pt x="0" y="422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grpSp>
          <p:nvGrpSpPr>
            <p:cNvPr name="Group 8" id="8"/>
            <p:cNvGrpSpPr/>
            <p:nvPr/>
          </p:nvGrpSpPr>
          <p:grpSpPr>
            <a:xfrm rot="0">
              <a:off x="0" y="0"/>
              <a:ext cx="658368" cy="658368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523042" y="124802"/>
                    </a:lnTo>
                    <a:lnTo>
                      <a:pt x="693768" y="119032"/>
                    </a:lnTo>
                    <a:lnTo>
                      <a:pt x="687998" y="289758"/>
                    </a:lnTo>
                    <a:lnTo>
                      <a:pt x="812800" y="406400"/>
                    </a:lnTo>
                    <a:lnTo>
                      <a:pt x="687998" y="523042"/>
                    </a:lnTo>
                    <a:lnTo>
                      <a:pt x="693768" y="693768"/>
                    </a:lnTo>
                    <a:lnTo>
                      <a:pt x="523042" y="687998"/>
                    </a:lnTo>
                    <a:lnTo>
                      <a:pt x="406400" y="812800"/>
                    </a:lnTo>
                    <a:lnTo>
                      <a:pt x="289758" y="687998"/>
                    </a:lnTo>
                    <a:lnTo>
                      <a:pt x="119032" y="693768"/>
                    </a:lnTo>
                    <a:lnTo>
                      <a:pt x="124802" y="523042"/>
                    </a:lnTo>
                    <a:lnTo>
                      <a:pt x="0" y="406400"/>
                    </a:lnTo>
                    <a:lnTo>
                      <a:pt x="124802" y="289758"/>
                    </a:lnTo>
                    <a:lnTo>
                      <a:pt x="119032" y="119032"/>
                    </a:lnTo>
                    <a:lnTo>
                      <a:pt x="289758" y="124802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9FCFF9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127000" y="60325"/>
                <a:ext cx="558800" cy="625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683768" y="49784"/>
              <a:ext cx="108204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b="true" sz="2799" spc="27">
                  <a:solidFill>
                    <a:srgbClr val="0086B3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SUPPRESSION DES DOUBLONS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2349500" y="2029978"/>
              <a:ext cx="108204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b="true" sz="2799" spc="27">
                  <a:solidFill>
                    <a:srgbClr val="0086B3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SUPPRESSION DES CLIENTS SANS ID</a:t>
              </a:r>
            </a:p>
          </p:txBody>
        </p:sp>
        <p:grpSp>
          <p:nvGrpSpPr>
            <p:cNvPr name="Group 13" id="13"/>
            <p:cNvGrpSpPr/>
            <p:nvPr/>
          </p:nvGrpSpPr>
          <p:grpSpPr>
            <a:xfrm rot="0">
              <a:off x="1717270" y="1967494"/>
              <a:ext cx="658368" cy="658368"/>
              <a:chOff x="0" y="0"/>
              <a:chExt cx="812800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523042" y="124802"/>
                    </a:lnTo>
                    <a:lnTo>
                      <a:pt x="693768" y="119032"/>
                    </a:lnTo>
                    <a:lnTo>
                      <a:pt x="687998" y="289758"/>
                    </a:lnTo>
                    <a:lnTo>
                      <a:pt x="812800" y="406400"/>
                    </a:lnTo>
                    <a:lnTo>
                      <a:pt x="687998" y="523042"/>
                    </a:lnTo>
                    <a:lnTo>
                      <a:pt x="693768" y="693768"/>
                    </a:lnTo>
                    <a:lnTo>
                      <a:pt x="523042" y="687998"/>
                    </a:lnTo>
                    <a:lnTo>
                      <a:pt x="406400" y="812800"/>
                    </a:lnTo>
                    <a:lnTo>
                      <a:pt x="289758" y="687998"/>
                    </a:lnTo>
                    <a:lnTo>
                      <a:pt x="119032" y="693768"/>
                    </a:lnTo>
                    <a:lnTo>
                      <a:pt x="124802" y="523042"/>
                    </a:lnTo>
                    <a:lnTo>
                      <a:pt x="0" y="406400"/>
                    </a:lnTo>
                    <a:lnTo>
                      <a:pt x="124802" y="289758"/>
                    </a:lnTo>
                    <a:lnTo>
                      <a:pt x="119032" y="119032"/>
                    </a:lnTo>
                    <a:lnTo>
                      <a:pt x="289758" y="124802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9FCFF9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27000" y="60325"/>
                <a:ext cx="558800" cy="625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2502638" y="2787787"/>
              <a:ext cx="10820400" cy="11275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9"/>
                </a:lnSpc>
              </a:pPr>
              <a:r>
                <a:rPr lang="en-US" sz="2599">
                  <a:solidFill>
                    <a:srgbClr val="1F294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On les supprime car on ne peut pas construire de profil RFM sans identifiant client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4517572" y="4477247"/>
              <a:ext cx="108204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b="true" sz="2799" spc="27">
                  <a:solidFill>
                    <a:srgbClr val="0086B3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QUANTITE NÉGATIVE</a:t>
              </a:r>
            </a:p>
          </p:txBody>
        </p:sp>
        <p:grpSp>
          <p:nvGrpSpPr>
            <p:cNvPr name="Group 18" id="18"/>
            <p:cNvGrpSpPr/>
            <p:nvPr/>
          </p:nvGrpSpPr>
          <p:grpSpPr>
            <a:xfrm rot="0">
              <a:off x="3871904" y="4427463"/>
              <a:ext cx="658368" cy="658368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523042" y="124802"/>
                    </a:lnTo>
                    <a:lnTo>
                      <a:pt x="693768" y="119032"/>
                    </a:lnTo>
                    <a:lnTo>
                      <a:pt x="687998" y="289758"/>
                    </a:lnTo>
                    <a:lnTo>
                      <a:pt x="812800" y="406400"/>
                    </a:lnTo>
                    <a:lnTo>
                      <a:pt x="687998" y="523042"/>
                    </a:lnTo>
                    <a:lnTo>
                      <a:pt x="693768" y="693768"/>
                    </a:lnTo>
                    <a:lnTo>
                      <a:pt x="523042" y="687998"/>
                    </a:lnTo>
                    <a:lnTo>
                      <a:pt x="406400" y="812800"/>
                    </a:lnTo>
                    <a:lnTo>
                      <a:pt x="289758" y="687998"/>
                    </a:lnTo>
                    <a:lnTo>
                      <a:pt x="119032" y="693768"/>
                    </a:lnTo>
                    <a:lnTo>
                      <a:pt x="124802" y="523042"/>
                    </a:lnTo>
                    <a:lnTo>
                      <a:pt x="0" y="406400"/>
                    </a:lnTo>
                    <a:lnTo>
                      <a:pt x="124802" y="289758"/>
                    </a:lnTo>
                    <a:lnTo>
                      <a:pt x="119032" y="119032"/>
                    </a:lnTo>
                    <a:lnTo>
                      <a:pt x="289758" y="124802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9FCFF9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27000" y="60325"/>
                <a:ext cx="558800" cy="625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4694221" y="5210672"/>
              <a:ext cx="10820400" cy="5560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9"/>
                </a:lnSpc>
              </a:pPr>
              <a:r>
                <a:rPr lang="en-US" sz="2599">
                  <a:solidFill>
                    <a:srgbClr val="1F294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On supprime les annulations et les retours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6217563" y="6411086"/>
              <a:ext cx="108204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59"/>
                </a:lnSpc>
              </a:pPr>
              <a:r>
                <a:rPr lang="en-US" b="true" sz="2799" spc="27">
                  <a:solidFill>
                    <a:srgbClr val="0086B3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NUMÉRO FACTURE ‘C******’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6281063" y="7058945"/>
              <a:ext cx="13563600" cy="5560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9"/>
                </a:lnSpc>
              </a:pPr>
              <a:r>
                <a:rPr lang="en-US" sz="2599">
                  <a:solidFill>
                    <a:srgbClr val="1F294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Les factures commençant par 'C' sont des annulations → on les exclut</a:t>
              </a:r>
            </a:p>
          </p:txBody>
        </p:sp>
        <p:grpSp>
          <p:nvGrpSpPr>
            <p:cNvPr name="Group 24" id="24"/>
            <p:cNvGrpSpPr/>
            <p:nvPr/>
          </p:nvGrpSpPr>
          <p:grpSpPr>
            <a:xfrm rot="0">
              <a:off x="5571895" y="6348602"/>
              <a:ext cx="658368" cy="658368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523042" y="124802"/>
                    </a:lnTo>
                    <a:lnTo>
                      <a:pt x="693768" y="119032"/>
                    </a:lnTo>
                    <a:lnTo>
                      <a:pt x="687998" y="289758"/>
                    </a:lnTo>
                    <a:lnTo>
                      <a:pt x="812800" y="406400"/>
                    </a:lnTo>
                    <a:lnTo>
                      <a:pt x="687998" y="523042"/>
                    </a:lnTo>
                    <a:lnTo>
                      <a:pt x="693768" y="693768"/>
                    </a:lnTo>
                    <a:lnTo>
                      <a:pt x="523042" y="687998"/>
                    </a:lnTo>
                    <a:lnTo>
                      <a:pt x="406400" y="812800"/>
                    </a:lnTo>
                    <a:lnTo>
                      <a:pt x="289758" y="687998"/>
                    </a:lnTo>
                    <a:lnTo>
                      <a:pt x="119032" y="693768"/>
                    </a:lnTo>
                    <a:lnTo>
                      <a:pt x="124802" y="523042"/>
                    </a:lnTo>
                    <a:lnTo>
                      <a:pt x="0" y="406400"/>
                    </a:lnTo>
                    <a:lnTo>
                      <a:pt x="124802" y="289758"/>
                    </a:lnTo>
                    <a:lnTo>
                      <a:pt x="119032" y="119032"/>
                    </a:lnTo>
                    <a:lnTo>
                      <a:pt x="289758" y="124802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9FCFF9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127000" y="60325"/>
                <a:ext cx="558800" cy="6254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000"/>
                  </a:lnSpc>
                </a:pPr>
              </a:p>
            </p:txBody>
          </p:sp>
        </p:grpSp>
      </p:grpSp>
      <p:sp>
        <p:nvSpPr>
          <p:cNvPr name="Freeform 27" id="27"/>
          <p:cNvSpPr/>
          <p:nvPr/>
        </p:nvSpPr>
        <p:spPr>
          <a:xfrm flipH="false" flipV="false" rot="0">
            <a:off x="11803181" y="5143500"/>
            <a:ext cx="5295414" cy="1699388"/>
          </a:xfrm>
          <a:custGeom>
            <a:avLst/>
            <a:gdLst/>
            <a:ahLst/>
            <a:cxnLst/>
            <a:rect r="r" b="b" t="t" l="l"/>
            <a:pathLst>
              <a:path h="1699388" w="5295414">
                <a:moveTo>
                  <a:pt x="0" y="0"/>
                </a:moveTo>
                <a:lnTo>
                  <a:pt x="5295414" y="0"/>
                </a:lnTo>
                <a:lnTo>
                  <a:pt x="5295414" y="1699388"/>
                </a:lnTo>
                <a:lnTo>
                  <a:pt x="0" y="169938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1803181" y="4808608"/>
            <a:ext cx="5295414" cy="344417"/>
          </a:xfrm>
          <a:custGeom>
            <a:avLst/>
            <a:gdLst/>
            <a:ahLst/>
            <a:cxnLst/>
            <a:rect r="r" b="b" t="t" l="l"/>
            <a:pathLst>
              <a:path h="344417" w="5295414">
                <a:moveTo>
                  <a:pt x="0" y="0"/>
                </a:moveTo>
                <a:lnTo>
                  <a:pt x="5295414" y="0"/>
                </a:lnTo>
                <a:lnTo>
                  <a:pt x="5295414" y="344417"/>
                </a:lnTo>
                <a:lnTo>
                  <a:pt x="0" y="34441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1798899" y="6833363"/>
            <a:ext cx="5303979" cy="258031"/>
          </a:xfrm>
          <a:custGeom>
            <a:avLst/>
            <a:gdLst/>
            <a:ahLst/>
            <a:cxnLst/>
            <a:rect r="r" b="b" t="t" l="l"/>
            <a:pathLst>
              <a:path h="258031" w="5303979">
                <a:moveTo>
                  <a:pt x="0" y="0"/>
                </a:moveTo>
                <a:lnTo>
                  <a:pt x="5303979" y="0"/>
                </a:lnTo>
                <a:lnTo>
                  <a:pt x="5303979" y="258031"/>
                </a:lnTo>
                <a:lnTo>
                  <a:pt x="0" y="25803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3432822" y="642196"/>
            <a:ext cx="9817585" cy="165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99"/>
              </a:lnSpc>
            </a:pPr>
            <a:r>
              <a:rPr lang="en-US" b="true" sz="6399" spc="63">
                <a:solidFill>
                  <a:srgbClr val="0086B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METHODES DE FILTRAGE DES DONNÉES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596961">
            <a:off x="-1406027" y="6806086"/>
            <a:ext cx="4389359" cy="4373398"/>
          </a:xfrm>
          <a:custGeom>
            <a:avLst/>
            <a:gdLst/>
            <a:ahLst/>
            <a:cxnLst/>
            <a:rect r="r" b="b" t="t" l="l"/>
            <a:pathLst>
              <a:path h="4373398" w="4389359">
                <a:moveTo>
                  <a:pt x="0" y="0"/>
                </a:moveTo>
                <a:lnTo>
                  <a:pt x="4389359" y="0"/>
                </a:lnTo>
                <a:lnTo>
                  <a:pt x="4389359" y="4373398"/>
                </a:lnTo>
                <a:lnTo>
                  <a:pt x="0" y="4373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201367">
            <a:off x="557077" y="8324231"/>
            <a:ext cx="3625255" cy="4816160"/>
          </a:xfrm>
          <a:custGeom>
            <a:avLst/>
            <a:gdLst/>
            <a:ahLst/>
            <a:cxnLst/>
            <a:rect r="r" b="b" t="t" l="l"/>
            <a:pathLst>
              <a:path h="4816160" w="3625255">
                <a:moveTo>
                  <a:pt x="0" y="0"/>
                </a:moveTo>
                <a:lnTo>
                  <a:pt x="3625255" y="0"/>
                </a:lnTo>
                <a:lnTo>
                  <a:pt x="3625255" y="4816160"/>
                </a:lnTo>
                <a:lnTo>
                  <a:pt x="0" y="48161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123381">
            <a:off x="15488782" y="-651472"/>
            <a:ext cx="3980134" cy="4114800"/>
          </a:xfrm>
          <a:custGeom>
            <a:avLst/>
            <a:gdLst/>
            <a:ahLst/>
            <a:cxnLst/>
            <a:rect r="r" b="b" t="t" l="l"/>
            <a:pathLst>
              <a:path h="4114800" w="3980134">
                <a:moveTo>
                  <a:pt x="0" y="0"/>
                </a:moveTo>
                <a:lnTo>
                  <a:pt x="3980134" y="0"/>
                </a:lnTo>
                <a:lnTo>
                  <a:pt x="39801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395011">
            <a:off x="13614410" y="-1236110"/>
            <a:ext cx="2725288" cy="3620552"/>
          </a:xfrm>
          <a:custGeom>
            <a:avLst/>
            <a:gdLst/>
            <a:ahLst/>
            <a:cxnLst/>
            <a:rect r="r" b="b" t="t" l="l"/>
            <a:pathLst>
              <a:path h="3620552" w="2725288">
                <a:moveTo>
                  <a:pt x="0" y="0"/>
                </a:moveTo>
                <a:lnTo>
                  <a:pt x="2725289" y="0"/>
                </a:lnTo>
                <a:lnTo>
                  <a:pt x="2725289" y="3620552"/>
                </a:lnTo>
                <a:lnTo>
                  <a:pt x="0" y="36205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748686" y="2795330"/>
            <a:ext cx="985148" cy="985148"/>
          </a:xfrm>
          <a:custGeom>
            <a:avLst/>
            <a:gdLst/>
            <a:ahLst/>
            <a:cxnLst/>
            <a:rect r="r" b="b" t="t" l="l"/>
            <a:pathLst>
              <a:path h="985148" w="985148">
                <a:moveTo>
                  <a:pt x="0" y="0"/>
                </a:moveTo>
                <a:lnTo>
                  <a:pt x="985148" y="0"/>
                </a:lnTo>
                <a:lnTo>
                  <a:pt x="985148" y="985148"/>
                </a:lnTo>
                <a:lnTo>
                  <a:pt x="0" y="98514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237723" y="2795330"/>
            <a:ext cx="1164134" cy="985148"/>
          </a:xfrm>
          <a:custGeom>
            <a:avLst/>
            <a:gdLst/>
            <a:ahLst/>
            <a:cxnLst/>
            <a:rect r="r" b="b" t="t" l="l"/>
            <a:pathLst>
              <a:path h="985148" w="1164134">
                <a:moveTo>
                  <a:pt x="0" y="0"/>
                </a:moveTo>
                <a:lnTo>
                  <a:pt x="1164133" y="0"/>
                </a:lnTo>
                <a:lnTo>
                  <a:pt x="1164133" y="985148"/>
                </a:lnTo>
                <a:lnTo>
                  <a:pt x="0" y="98514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573741" y="2795330"/>
            <a:ext cx="954698" cy="985148"/>
          </a:xfrm>
          <a:custGeom>
            <a:avLst/>
            <a:gdLst/>
            <a:ahLst/>
            <a:cxnLst/>
            <a:rect r="r" b="b" t="t" l="l"/>
            <a:pathLst>
              <a:path h="985148" w="954698">
                <a:moveTo>
                  <a:pt x="0" y="0"/>
                </a:moveTo>
                <a:lnTo>
                  <a:pt x="954698" y="0"/>
                </a:lnTo>
                <a:lnTo>
                  <a:pt x="954698" y="985148"/>
                </a:lnTo>
                <a:lnTo>
                  <a:pt x="0" y="98514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781072" y="4093138"/>
            <a:ext cx="628853" cy="1029647"/>
            <a:chOff x="0" y="0"/>
            <a:chExt cx="558532" cy="91450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58532" cy="914507"/>
            </a:xfrm>
            <a:custGeom>
              <a:avLst/>
              <a:gdLst/>
              <a:ahLst/>
              <a:cxnLst/>
              <a:rect r="r" b="b" t="t" l="l"/>
              <a:pathLst>
                <a:path h="914507" w="558532">
                  <a:moveTo>
                    <a:pt x="279266" y="914507"/>
                  </a:moveTo>
                  <a:lnTo>
                    <a:pt x="0" y="508107"/>
                  </a:lnTo>
                  <a:lnTo>
                    <a:pt x="203200" y="508107"/>
                  </a:lnTo>
                  <a:lnTo>
                    <a:pt x="203200" y="0"/>
                  </a:lnTo>
                  <a:lnTo>
                    <a:pt x="355332" y="0"/>
                  </a:lnTo>
                  <a:lnTo>
                    <a:pt x="355332" y="508107"/>
                  </a:lnTo>
                  <a:lnTo>
                    <a:pt x="558532" y="508107"/>
                  </a:lnTo>
                  <a:lnTo>
                    <a:pt x="279266" y="914507"/>
                  </a:lnTo>
                  <a:close/>
                </a:path>
              </a:pathLst>
            </a:custGeom>
            <a:solidFill>
              <a:srgbClr val="0086B3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203200" y="-66675"/>
              <a:ext cx="152132" cy="879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2700000">
            <a:off x="1869141" y="6658944"/>
            <a:ext cx="628853" cy="1760357"/>
            <a:chOff x="0" y="0"/>
            <a:chExt cx="558532" cy="156350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58532" cy="1563506"/>
            </a:xfrm>
            <a:custGeom>
              <a:avLst/>
              <a:gdLst/>
              <a:ahLst/>
              <a:cxnLst/>
              <a:rect r="r" b="b" t="t" l="l"/>
              <a:pathLst>
                <a:path h="1563506" w="558532">
                  <a:moveTo>
                    <a:pt x="279266" y="1563506"/>
                  </a:moveTo>
                  <a:lnTo>
                    <a:pt x="0" y="1157106"/>
                  </a:lnTo>
                  <a:lnTo>
                    <a:pt x="203200" y="1157106"/>
                  </a:lnTo>
                  <a:lnTo>
                    <a:pt x="203200" y="0"/>
                  </a:lnTo>
                  <a:lnTo>
                    <a:pt x="355332" y="0"/>
                  </a:lnTo>
                  <a:lnTo>
                    <a:pt x="355332" y="1157106"/>
                  </a:lnTo>
                  <a:lnTo>
                    <a:pt x="558532" y="1157106"/>
                  </a:lnTo>
                  <a:lnTo>
                    <a:pt x="279266" y="1563506"/>
                  </a:lnTo>
                  <a:close/>
                </a:path>
              </a:pathLst>
            </a:custGeom>
            <a:solidFill>
              <a:srgbClr val="0086B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203200" y="-66675"/>
              <a:ext cx="152132" cy="1528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788652" y="422799"/>
            <a:ext cx="11753656" cy="165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b="true" sz="6399" spc="63">
                <a:solidFill>
                  <a:srgbClr val="0086B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SEGMENTATION CLIENT CLUSTERING NON SUPERVISÉ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8652" y="2080784"/>
            <a:ext cx="308629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b="true" sz="2999" spc="29">
                <a:solidFill>
                  <a:srgbClr val="0086B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VARIABLES RFM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670733" y="3080257"/>
            <a:ext cx="2105025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600" spc="36">
                <a:solidFill>
                  <a:srgbClr val="1F294C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RECENCY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544731" y="3080259"/>
            <a:ext cx="2743795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600" spc="36">
                <a:solidFill>
                  <a:srgbClr val="1F294C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FR</a:t>
            </a:r>
            <a:r>
              <a:rPr lang="en-US" b="true" sz="3600" spc="36">
                <a:solidFill>
                  <a:srgbClr val="1F294C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EQUENCY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876709" y="3080257"/>
            <a:ext cx="2507307" cy="48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600" spc="36">
                <a:solidFill>
                  <a:srgbClr val="1F294C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MONETAR</a:t>
            </a:r>
            <a:r>
              <a:rPr lang="en-US" b="true" sz="3600" spc="36">
                <a:solidFill>
                  <a:srgbClr val="1F294C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829640" y="8087433"/>
            <a:ext cx="4502711" cy="482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3"/>
              </a:lnSpc>
              <a:spcBef>
                <a:spcPct val="0"/>
              </a:spcBef>
            </a:pPr>
            <a:r>
              <a:rPr lang="en-US" b="true" sz="3603" spc="36">
                <a:solidFill>
                  <a:srgbClr val="1F294C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V</a:t>
            </a:r>
            <a:r>
              <a:rPr lang="en-US" b="true" sz="3603" spc="36">
                <a:solidFill>
                  <a:srgbClr val="1F294C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ECTORASSEMBLER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394921" y="8087433"/>
            <a:ext cx="4197344" cy="482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3"/>
              </a:lnSpc>
              <a:spcBef>
                <a:spcPct val="0"/>
              </a:spcBef>
            </a:pPr>
            <a:r>
              <a:rPr lang="en-US" b="true" sz="3603" spc="36">
                <a:solidFill>
                  <a:srgbClr val="1F294C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</a:t>
            </a:r>
            <a:r>
              <a:rPr lang="en-US" b="true" sz="3603" spc="36">
                <a:solidFill>
                  <a:srgbClr val="1F294C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TANDARDSCALER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26512" y="3171718"/>
            <a:ext cx="1537973" cy="752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On créer des variables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26512" y="5389485"/>
            <a:ext cx="1537973" cy="1133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Regrouper dans un DataFrame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356576" y="8248626"/>
            <a:ext cx="1537973" cy="752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Assembler et standardiser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829640" y="8556133"/>
            <a:ext cx="4502711" cy="630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sz="1700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Regrouper nos trois colonnes RFM en une seule liste de données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394921" y="8521862"/>
            <a:ext cx="4197344" cy="1278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sz="1700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Mettre toutes nos variables sur un pied d'égalité. Il harmonise les échelles pour éviter que le M, n'écrase totalement la F ou la 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67272" y="3010792"/>
            <a:ext cx="118481" cy="315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4"/>
              </a:lnSpc>
              <a:spcBef>
                <a:spcPct val="0"/>
              </a:spcBef>
            </a:pPr>
            <a:r>
              <a:rPr lang="en-US" b="true" sz="2384" spc="23">
                <a:solidFill>
                  <a:srgbClr val="0086B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26512" y="5245482"/>
            <a:ext cx="118481" cy="315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4"/>
              </a:lnSpc>
              <a:spcBef>
                <a:spcPct val="0"/>
              </a:spcBef>
            </a:pPr>
            <a:r>
              <a:rPr lang="en-US" b="true" sz="2384" spc="23">
                <a:solidFill>
                  <a:srgbClr val="0086B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238095" y="8068383"/>
            <a:ext cx="118481" cy="315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4"/>
              </a:lnSpc>
              <a:spcBef>
                <a:spcPct val="0"/>
              </a:spcBef>
            </a:pPr>
            <a:r>
              <a:rPr lang="en-US" b="true" sz="2384" spc="23">
                <a:solidFill>
                  <a:srgbClr val="0086B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573741" y="3865246"/>
            <a:ext cx="3202017" cy="1278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sz="1700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Évalue la proximité temporelle du dernier achat pour identifier les clients encore actifs par rapport aux clients dormants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237723" y="3865246"/>
            <a:ext cx="4050804" cy="954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sz="1700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Mesure l'intensité transactionnelle et la récurrence d'achat, indicateurs directs de la fidélité et de l'engagement client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748686" y="3865246"/>
            <a:ext cx="3635331" cy="954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0"/>
              </a:lnSpc>
            </a:pPr>
            <a:r>
              <a:rPr lang="en-US" sz="1700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Mesure la valeur totale dépensée par le client. Cela permet d’identifier les clients les plus rentables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7742961" y="6185500"/>
            <a:ext cx="469408" cy="469408"/>
          </a:xfrm>
          <a:custGeom>
            <a:avLst/>
            <a:gdLst/>
            <a:ahLst/>
            <a:cxnLst/>
            <a:rect r="r" b="b" t="t" l="l"/>
            <a:pathLst>
              <a:path h="469408" w="469408">
                <a:moveTo>
                  <a:pt x="0" y="0"/>
                </a:moveTo>
                <a:lnTo>
                  <a:pt x="469408" y="0"/>
                </a:lnTo>
                <a:lnTo>
                  <a:pt x="469408" y="469408"/>
                </a:lnTo>
                <a:lnTo>
                  <a:pt x="0" y="46940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8651886" y="6145358"/>
            <a:ext cx="612463" cy="549693"/>
          </a:xfrm>
          <a:custGeom>
            <a:avLst/>
            <a:gdLst/>
            <a:ahLst/>
            <a:cxnLst/>
            <a:rect r="r" b="b" t="t" l="l"/>
            <a:pathLst>
              <a:path h="549693" w="612463">
                <a:moveTo>
                  <a:pt x="0" y="0"/>
                </a:moveTo>
                <a:lnTo>
                  <a:pt x="612463" y="0"/>
                </a:lnTo>
                <a:lnTo>
                  <a:pt x="612463" y="549692"/>
                </a:lnTo>
                <a:lnTo>
                  <a:pt x="0" y="54969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3726" t="0" r="-3726" b="-1315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9703866" y="6185500"/>
            <a:ext cx="469408" cy="469408"/>
          </a:xfrm>
          <a:custGeom>
            <a:avLst/>
            <a:gdLst/>
            <a:ahLst/>
            <a:cxnLst/>
            <a:rect r="r" b="b" t="t" l="l"/>
            <a:pathLst>
              <a:path h="469408" w="469408">
                <a:moveTo>
                  <a:pt x="0" y="0"/>
                </a:moveTo>
                <a:lnTo>
                  <a:pt x="469408" y="0"/>
                </a:lnTo>
                <a:lnTo>
                  <a:pt x="469408" y="469408"/>
                </a:lnTo>
                <a:lnTo>
                  <a:pt x="0" y="46940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0612791" y="6269449"/>
            <a:ext cx="3029883" cy="34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2"/>
              </a:lnSpc>
              <a:spcBef>
                <a:spcPct val="0"/>
              </a:spcBef>
            </a:pPr>
            <a:r>
              <a:rPr lang="en-US" b="true" sz="2642" spc="26">
                <a:solidFill>
                  <a:srgbClr val="1F294C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CLIENTS PREMIUM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4723246" y="6104205"/>
            <a:ext cx="612463" cy="631997"/>
          </a:xfrm>
          <a:custGeom>
            <a:avLst/>
            <a:gdLst/>
            <a:ahLst/>
            <a:cxnLst/>
            <a:rect r="r" b="b" t="t" l="l"/>
            <a:pathLst>
              <a:path h="631997" w="612463">
                <a:moveTo>
                  <a:pt x="0" y="0"/>
                </a:moveTo>
                <a:lnTo>
                  <a:pt x="612463" y="0"/>
                </a:lnTo>
                <a:lnTo>
                  <a:pt x="612463" y="631998"/>
                </a:lnTo>
                <a:lnTo>
                  <a:pt x="0" y="63199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5778641" y="6185500"/>
            <a:ext cx="469408" cy="469408"/>
          </a:xfrm>
          <a:custGeom>
            <a:avLst/>
            <a:gdLst/>
            <a:ahLst/>
            <a:cxnLst/>
            <a:rect r="r" b="b" t="t" l="l"/>
            <a:pathLst>
              <a:path h="469408" w="469408">
                <a:moveTo>
                  <a:pt x="0" y="0"/>
                </a:moveTo>
                <a:lnTo>
                  <a:pt x="469408" y="0"/>
                </a:lnTo>
                <a:lnTo>
                  <a:pt x="469408" y="469408"/>
                </a:lnTo>
                <a:lnTo>
                  <a:pt x="0" y="46940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6690981" y="6104205"/>
            <a:ext cx="612463" cy="631997"/>
          </a:xfrm>
          <a:custGeom>
            <a:avLst/>
            <a:gdLst/>
            <a:ahLst/>
            <a:cxnLst/>
            <a:rect r="r" b="b" t="t" l="l"/>
            <a:pathLst>
              <a:path h="631997" w="612463">
                <a:moveTo>
                  <a:pt x="0" y="0"/>
                </a:moveTo>
                <a:lnTo>
                  <a:pt x="612463" y="0"/>
                </a:lnTo>
                <a:lnTo>
                  <a:pt x="612463" y="631998"/>
                </a:lnTo>
                <a:lnTo>
                  <a:pt x="0" y="63199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594" t="0" r="-1594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596961">
            <a:off x="-1406027" y="6806086"/>
            <a:ext cx="4389359" cy="4373398"/>
          </a:xfrm>
          <a:custGeom>
            <a:avLst/>
            <a:gdLst/>
            <a:ahLst/>
            <a:cxnLst/>
            <a:rect r="r" b="b" t="t" l="l"/>
            <a:pathLst>
              <a:path h="4373398" w="4389359">
                <a:moveTo>
                  <a:pt x="0" y="0"/>
                </a:moveTo>
                <a:lnTo>
                  <a:pt x="4389359" y="0"/>
                </a:lnTo>
                <a:lnTo>
                  <a:pt x="4389359" y="4373398"/>
                </a:lnTo>
                <a:lnTo>
                  <a:pt x="0" y="4373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201367">
            <a:off x="557077" y="8324231"/>
            <a:ext cx="3625255" cy="4816160"/>
          </a:xfrm>
          <a:custGeom>
            <a:avLst/>
            <a:gdLst/>
            <a:ahLst/>
            <a:cxnLst/>
            <a:rect r="r" b="b" t="t" l="l"/>
            <a:pathLst>
              <a:path h="4816160" w="3625255">
                <a:moveTo>
                  <a:pt x="0" y="0"/>
                </a:moveTo>
                <a:lnTo>
                  <a:pt x="3625255" y="0"/>
                </a:lnTo>
                <a:lnTo>
                  <a:pt x="3625255" y="4816160"/>
                </a:lnTo>
                <a:lnTo>
                  <a:pt x="0" y="48161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123381">
            <a:off x="15488782" y="-651472"/>
            <a:ext cx="3980134" cy="4114800"/>
          </a:xfrm>
          <a:custGeom>
            <a:avLst/>
            <a:gdLst/>
            <a:ahLst/>
            <a:cxnLst/>
            <a:rect r="r" b="b" t="t" l="l"/>
            <a:pathLst>
              <a:path h="4114800" w="3980134">
                <a:moveTo>
                  <a:pt x="0" y="0"/>
                </a:moveTo>
                <a:lnTo>
                  <a:pt x="3980134" y="0"/>
                </a:lnTo>
                <a:lnTo>
                  <a:pt x="39801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395011">
            <a:off x="13614410" y="-1236110"/>
            <a:ext cx="2725288" cy="3620552"/>
          </a:xfrm>
          <a:custGeom>
            <a:avLst/>
            <a:gdLst/>
            <a:ahLst/>
            <a:cxnLst/>
            <a:rect r="r" b="b" t="t" l="l"/>
            <a:pathLst>
              <a:path h="3620552" w="2725288">
                <a:moveTo>
                  <a:pt x="0" y="0"/>
                </a:moveTo>
                <a:lnTo>
                  <a:pt x="2725289" y="0"/>
                </a:lnTo>
                <a:lnTo>
                  <a:pt x="2725289" y="3620552"/>
                </a:lnTo>
                <a:lnTo>
                  <a:pt x="0" y="36205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998722" y="3958616"/>
            <a:ext cx="12358188" cy="4356261"/>
          </a:xfrm>
          <a:custGeom>
            <a:avLst/>
            <a:gdLst/>
            <a:ahLst/>
            <a:cxnLst/>
            <a:rect r="r" b="b" t="t" l="l"/>
            <a:pathLst>
              <a:path h="4356261" w="12358188">
                <a:moveTo>
                  <a:pt x="0" y="0"/>
                </a:moveTo>
                <a:lnTo>
                  <a:pt x="12358188" y="0"/>
                </a:lnTo>
                <a:lnTo>
                  <a:pt x="12358188" y="4356261"/>
                </a:lnTo>
                <a:lnTo>
                  <a:pt x="0" y="435626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220037" y="4498777"/>
            <a:ext cx="628853" cy="1268214"/>
            <a:chOff x="0" y="0"/>
            <a:chExt cx="558532" cy="112639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58532" cy="1126397"/>
            </a:xfrm>
            <a:custGeom>
              <a:avLst/>
              <a:gdLst/>
              <a:ahLst/>
              <a:cxnLst/>
              <a:rect r="r" b="b" t="t" l="l"/>
              <a:pathLst>
                <a:path h="1126397" w="558532">
                  <a:moveTo>
                    <a:pt x="279266" y="1126397"/>
                  </a:moveTo>
                  <a:lnTo>
                    <a:pt x="0" y="719997"/>
                  </a:lnTo>
                  <a:lnTo>
                    <a:pt x="203200" y="719997"/>
                  </a:lnTo>
                  <a:lnTo>
                    <a:pt x="203200" y="0"/>
                  </a:lnTo>
                  <a:lnTo>
                    <a:pt x="355332" y="0"/>
                  </a:lnTo>
                  <a:lnTo>
                    <a:pt x="355332" y="719997"/>
                  </a:lnTo>
                  <a:lnTo>
                    <a:pt x="558532" y="719997"/>
                  </a:lnTo>
                  <a:lnTo>
                    <a:pt x="279266" y="1126397"/>
                  </a:lnTo>
                  <a:close/>
                </a:path>
              </a:pathLst>
            </a:custGeom>
            <a:solidFill>
              <a:srgbClr val="0086B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203200" y="-66675"/>
              <a:ext cx="152132" cy="10914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2700000">
            <a:off x="2379177" y="6968972"/>
            <a:ext cx="628853" cy="1760357"/>
            <a:chOff x="0" y="0"/>
            <a:chExt cx="558532" cy="15635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58532" cy="1563506"/>
            </a:xfrm>
            <a:custGeom>
              <a:avLst/>
              <a:gdLst/>
              <a:ahLst/>
              <a:cxnLst/>
              <a:rect r="r" b="b" t="t" l="l"/>
              <a:pathLst>
                <a:path h="1563506" w="558532">
                  <a:moveTo>
                    <a:pt x="279266" y="1563506"/>
                  </a:moveTo>
                  <a:lnTo>
                    <a:pt x="0" y="1157106"/>
                  </a:lnTo>
                  <a:lnTo>
                    <a:pt x="203200" y="1157106"/>
                  </a:lnTo>
                  <a:lnTo>
                    <a:pt x="203200" y="0"/>
                  </a:lnTo>
                  <a:lnTo>
                    <a:pt x="355332" y="0"/>
                  </a:lnTo>
                  <a:lnTo>
                    <a:pt x="355332" y="1157106"/>
                  </a:lnTo>
                  <a:lnTo>
                    <a:pt x="558532" y="1157106"/>
                  </a:lnTo>
                  <a:lnTo>
                    <a:pt x="279266" y="1563506"/>
                  </a:lnTo>
                  <a:close/>
                </a:path>
              </a:pathLst>
            </a:custGeom>
            <a:solidFill>
              <a:srgbClr val="0086B3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203200" y="-66675"/>
              <a:ext cx="152132" cy="15285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aphicFrame>
        <p:nvGraphicFramePr>
          <p:cNvPr name="Object 13" id="13"/>
          <p:cNvGraphicFramePr/>
          <p:nvPr/>
        </p:nvGraphicFramePr>
        <p:xfrm>
          <a:off x="16053570" y="8693864"/>
          <a:ext cx="7586157" cy="4274588"/>
        </p:xfrm>
        <a:graphic>
          <a:graphicData uri="http://schemas.openxmlformats.org/presentationml/2006/ole">
            <p:oleObj imgW="9105900" imgH="5791200" r:id="rId12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4" id="14"/>
          <p:cNvSpPr txBox="true"/>
          <p:nvPr/>
        </p:nvSpPr>
        <p:spPr>
          <a:xfrm rot="0">
            <a:off x="788652" y="422799"/>
            <a:ext cx="11753656" cy="165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b="true" sz="6399" spc="63">
                <a:solidFill>
                  <a:srgbClr val="0086B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SEGMENTATION CLIENT CLUSTERING NON SUPERVISÉ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8652" y="2080784"/>
            <a:ext cx="3639771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b="true" sz="2999" spc="29">
                <a:solidFill>
                  <a:srgbClr val="0086B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BISECTINGKMEANS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56132" y="2822821"/>
            <a:ext cx="2415902" cy="1514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On teste plusieurs valeurs de k (2 à 8) pour avoir le nombre optimal de clusters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96892" y="2661894"/>
            <a:ext cx="118481" cy="315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4"/>
              </a:lnSpc>
              <a:spcBef>
                <a:spcPct val="0"/>
              </a:spcBef>
            </a:pPr>
            <a:r>
              <a:rPr lang="en-US" b="true" sz="2384" spc="23">
                <a:solidFill>
                  <a:srgbClr val="0086B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56132" y="5751469"/>
            <a:ext cx="2356662" cy="1133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Visualisation :</a:t>
            </a:r>
          </a:p>
          <a:p>
            <a:pPr algn="ctr">
              <a:lnSpc>
                <a:spcPts val="3000"/>
              </a:lnSpc>
            </a:pPr>
            <a:r>
              <a:rPr lang="en-US" sz="2000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Silhouette Score</a:t>
            </a:r>
          </a:p>
          <a:p>
            <a:pPr algn="ctr">
              <a:lnSpc>
                <a:spcPts val="3000"/>
              </a:lnSpc>
            </a:pPr>
            <a:r>
              <a:rPr lang="en-US" sz="2000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Méthode du coude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67272" y="5633078"/>
            <a:ext cx="118481" cy="315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4"/>
              </a:lnSpc>
              <a:spcBef>
                <a:spcPct val="0"/>
              </a:spcBef>
            </a:pPr>
            <a:r>
              <a:rPr lang="en-US" b="true" sz="2384" spc="23">
                <a:solidFill>
                  <a:srgbClr val="0086B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871882" y="8779590"/>
            <a:ext cx="2320475" cy="1133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2000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BisectingKMeans :</a:t>
            </a:r>
          </a:p>
          <a:p>
            <a:pPr algn="ctr">
              <a:lnSpc>
                <a:spcPts val="3000"/>
              </a:lnSpc>
            </a:pPr>
            <a:r>
              <a:rPr lang="en-US" sz="2000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On entraîne le modèle avec k=3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753401" y="8631403"/>
            <a:ext cx="118481" cy="315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4"/>
              </a:lnSpc>
              <a:spcBef>
                <a:spcPct val="0"/>
              </a:spcBef>
            </a:pPr>
            <a:r>
              <a:rPr lang="en-US" b="true" sz="2384" spc="23">
                <a:solidFill>
                  <a:srgbClr val="0086B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998722" y="2652988"/>
            <a:ext cx="3704168" cy="1133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k=2 | Silhouette=0.4653 | WSSSE=9344.00 </a:t>
            </a:r>
          </a:p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k=3 | Silhouette=0.7437 | WSSSE=5435.09 </a:t>
            </a:r>
          </a:p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k=4 | Silhouette=0.5671 | WSSSE=5060.28 </a:t>
            </a:r>
          </a:p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k=5 | Silhouette=0.6846 | WSSSE=3976.25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456925" y="2652988"/>
            <a:ext cx="3646911" cy="847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k=6 | Silhouette=0.5515 | WSSSE=3928.86 </a:t>
            </a:r>
          </a:p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k=7 | Silhouette=0.5532 | WSSSE=3872.13 </a:t>
            </a:r>
          </a:p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k=8 | Silhouette=0.5552 | WSSSE=2697.91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531882" y="8698642"/>
            <a:ext cx="9055906" cy="1133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5" indent="-215903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Se base sur les données standardisées (R, F, M) pour comparer les clients</a:t>
            </a:r>
          </a:p>
          <a:p>
            <a:pPr algn="l" marL="431805" indent="-215903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Créer exactement 3 groupes</a:t>
            </a:r>
          </a:p>
          <a:p>
            <a:pPr algn="l" marL="431805" indent="-215903" lvl="1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Silhouette Score final (k=3) : 0.7437 (Plus le score est proche de 1  = Robuste)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596961">
            <a:off x="-1406027" y="6806086"/>
            <a:ext cx="4389359" cy="4373398"/>
          </a:xfrm>
          <a:custGeom>
            <a:avLst/>
            <a:gdLst/>
            <a:ahLst/>
            <a:cxnLst/>
            <a:rect r="r" b="b" t="t" l="l"/>
            <a:pathLst>
              <a:path h="4373398" w="4389359">
                <a:moveTo>
                  <a:pt x="0" y="0"/>
                </a:moveTo>
                <a:lnTo>
                  <a:pt x="4389359" y="0"/>
                </a:lnTo>
                <a:lnTo>
                  <a:pt x="4389359" y="4373398"/>
                </a:lnTo>
                <a:lnTo>
                  <a:pt x="0" y="4373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201367">
            <a:off x="557077" y="8324231"/>
            <a:ext cx="3625255" cy="4816160"/>
          </a:xfrm>
          <a:custGeom>
            <a:avLst/>
            <a:gdLst/>
            <a:ahLst/>
            <a:cxnLst/>
            <a:rect r="r" b="b" t="t" l="l"/>
            <a:pathLst>
              <a:path h="4816160" w="3625255">
                <a:moveTo>
                  <a:pt x="0" y="0"/>
                </a:moveTo>
                <a:lnTo>
                  <a:pt x="3625255" y="0"/>
                </a:lnTo>
                <a:lnTo>
                  <a:pt x="3625255" y="4816160"/>
                </a:lnTo>
                <a:lnTo>
                  <a:pt x="0" y="48161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123381">
            <a:off x="15488782" y="-651472"/>
            <a:ext cx="3980134" cy="4114800"/>
          </a:xfrm>
          <a:custGeom>
            <a:avLst/>
            <a:gdLst/>
            <a:ahLst/>
            <a:cxnLst/>
            <a:rect r="r" b="b" t="t" l="l"/>
            <a:pathLst>
              <a:path h="4114800" w="3980134">
                <a:moveTo>
                  <a:pt x="0" y="0"/>
                </a:moveTo>
                <a:lnTo>
                  <a:pt x="3980134" y="0"/>
                </a:lnTo>
                <a:lnTo>
                  <a:pt x="39801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395011">
            <a:off x="13614410" y="-1236110"/>
            <a:ext cx="2725288" cy="3620552"/>
          </a:xfrm>
          <a:custGeom>
            <a:avLst/>
            <a:gdLst/>
            <a:ahLst/>
            <a:cxnLst/>
            <a:rect r="r" b="b" t="t" l="l"/>
            <a:pathLst>
              <a:path h="3620552" w="2725288">
                <a:moveTo>
                  <a:pt x="0" y="0"/>
                </a:moveTo>
                <a:lnTo>
                  <a:pt x="2725289" y="0"/>
                </a:lnTo>
                <a:lnTo>
                  <a:pt x="2725289" y="3620552"/>
                </a:lnTo>
                <a:lnTo>
                  <a:pt x="0" y="36205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6" id="6"/>
          <p:cNvGraphicFramePr/>
          <p:nvPr/>
        </p:nvGraphicFramePr>
        <p:xfrm>
          <a:off x="788652" y="2638425"/>
          <a:ext cx="3166381" cy="2057400"/>
        </p:xfrm>
        <a:graphic>
          <a:graphicData uri="http://schemas.openxmlformats.org/presentationml/2006/ole">
            <p:oleObj imgW="3784600" imgH="2679700" r:id="rId11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pSp>
        <p:nvGrpSpPr>
          <p:cNvPr name="Group 7" id="7"/>
          <p:cNvGrpSpPr/>
          <p:nvPr/>
        </p:nvGrpSpPr>
        <p:grpSpPr>
          <a:xfrm rot="0">
            <a:off x="1046237" y="5876138"/>
            <a:ext cx="2178950" cy="950812"/>
            <a:chOff x="0" y="0"/>
            <a:chExt cx="573880" cy="2504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3880" cy="250420"/>
            </a:xfrm>
            <a:custGeom>
              <a:avLst/>
              <a:gdLst/>
              <a:ahLst/>
              <a:cxnLst/>
              <a:rect r="r" b="b" t="t" l="l"/>
              <a:pathLst>
                <a:path h="250420" w="573880">
                  <a:moveTo>
                    <a:pt x="35531" y="0"/>
                  </a:moveTo>
                  <a:lnTo>
                    <a:pt x="538349" y="0"/>
                  </a:lnTo>
                  <a:cubicBezTo>
                    <a:pt x="557972" y="0"/>
                    <a:pt x="573880" y="15908"/>
                    <a:pt x="573880" y="35531"/>
                  </a:cubicBezTo>
                  <a:lnTo>
                    <a:pt x="573880" y="214889"/>
                  </a:lnTo>
                  <a:cubicBezTo>
                    <a:pt x="573880" y="234512"/>
                    <a:pt x="557972" y="250420"/>
                    <a:pt x="538349" y="250420"/>
                  </a:cubicBezTo>
                  <a:lnTo>
                    <a:pt x="35531" y="250420"/>
                  </a:lnTo>
                  <a:cubicBezTo>
                    <a:pt x="15908" y="250420"/>
                    <a:pt x="0" y="234512"/>
                    <a:pt x="0" y="214889"/>
                  </a:cubicBezTo>
                  <a:lnTo>
                    <a:pt x="0" y="35531"/>
                  </a:lnTo>
                  <a:cubicBezTo>
                    <a:pt x="0" y="15908"/>
                    <a:pt x="15908" y="0"/>
                    <a:pt x="35531" y="0"/>
                  </a:cubicBezTo>
                  <a:close/>
                </a:path>
              </a:pathLst>
            </a:custGeom>
            <a:solidFill>
              <a:srgbClr val="9FCFF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73880" cy="288520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080"/>
                </a:lnSpc>
              </a:pPr>
              <a:r>
                <a:rPr lang="en-US" sz="2200" spc="22">
                  <a:solidFill>
                    <a:srgbClr val="1F294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Cluster 0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88652" y="422799"/>
            <a:ext cx="11753656" cy="165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b="true" sz="6399" spc="63">
                <a:solidFill>
                  <a:srgbClr val="0086B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SEGMENTATION CLIENT CLUSTERING NON SUPERVISÉ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8652" y="2080784"/>
            <a:ext cx="865923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b="true" sz="2999" spc="29">
                <a:solidFill>
                  <a:srgbClr val="0086B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ANALYSE ET INTERPRÉTATION DES SEGMENTS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639587" y="5944201"/>
            <a:ext cx="331800" cy="182379"/>
            <a:chOff x="0" y="0"/>
            <a:chExt cx="8195310" cy="45046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365"/>
              <a:ext cx="8195310" cy="3012075"/>
            </a:xfrm>
            <a:custGeom>
              <a:avLst/>
              <a:gdLst/>
              <a:ahLst/>
              <a:cxnLst/>
              <a:rect r="r" b="b" t="t" l="l"/>
              <a:pathLst>
                <a:path h="3012075" w="8195310">
                  <a:moveTo>
                    <a:pt x="8195310" y="2260235"/>
                  </a:moveTo>
                  <a:lnTo>
                    <a:pt x="4986020" y="51705"/>
                  </a:lnTo>
                  <a:cubicBezTo>
                    <a:pt x="4792980" y="-80375"/>
                    <a:pt x="4530090" y="55515"/>
                    <a:pt x="4528820" y="290465"/>
                  </a:cubicBezTo>
                  <a:lnTo>
                    <a:pt x="4528820" y="322215"/>
                  </a:lnTo>
                  <a:lnTo>
                    <a:pt x="4528820" y="901335"/>
                  </a:lnTo>
                  <a:lnTo>
                    <a:pt x="607060" y="901335"/>
                  </a:lnTo>
                  <a:lnTo>
                    <a:pt x="292100" y="901335"/>
                  </a:lnTo>
                  <a:cubicBezTo>
                    <a:pt x="130810" y="901335"/>
                    <a:pt x="0" y="1032145"/>
                    <a:pt x="0" y="1193435"/>
                  </a:cubicBezTo>
                  <a:lnTo>
                    <a:pt x="0" y="3012075"/>
                  </a:lnTo>
                  <a:lnTo>
                    <a:pt x="607060" y="3012075"/>
                  </a:lnTo>
                  <a:lnTo>
                    <a:pt x="607060" y="1507125"/>
                  </a:lnTo>
                  <a:lnTo>
                    <a:pt x="4528820" y="1507125"/>
                  </a:lnTo>
                  <a:lnTo>
                    <a:pt x="5135880" y="1507125"/>
                  </a:lnTo>
                  <a:lnTo>
                    <a:pt x="5135880" y="743855"/>
                  </a:lnTo>
                  <a:lnTo>
                    <a:pt x="7310120" y="2258965"/>
                  </a:lnTo>
                  <a:lnTo>
                    <a:pt x="8195310" y="2260235"/>
                  </a:lnTo>
                  <a:close/>
                </a:path>
              </a:pathLst>
            </a:custGeom>
            <a:solidFill>
              <a:srgbClr val="9FCFF9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2260600"/>
              <a:ext cx="8195310" cy="2244772"/>
            </a:xfrm>
            <a:custGeom>
              <a:avLst/>
              <a:gdLst/>
              <a:ahLst/>
              <a:cxnLst/>
              <a:rect r="r" b="b" t="t" l="l"/>
              <a:pathLst>
                <a:path h="2244772" w="8195310">
                  <a:moveTo>
                    <a:pt x="7310120" y="0"/>
                  </a:moveTo>
                  <a:lnTo>
                    <a:pt x="5135880" y="1515110"/>
                  </a:lnTo>
                  <a:lnTo>
                    <a:pt x="5135880" y="751840"/>
                  </a:lnTo>
                  <a:lnTo>
                    <a:pt x="0" y="751840"/>
                  </a:lnTo>
                  <a:lnTo>
                    <a:pt x="0" y="1358900"/>
                  </a:lnTo>
                  <a:lnTo>
                    <a:pt x="4528820" y="1358900"/>
                  </a:lnTo>
                  <a:lnTo>
                    <a:pt x="4528820" y="1938020"/>
                  </a:lnTo>
                  <a:cubicBezTo>
                    <a:pt x="4531360" y="2185670"/>
                    <a:pt x="4808220" y="2330450"/>
                    <a:pt x="5012690" y="2189480"/>
                  </a:cubicBezTo>
                  <a:lnTo>
                    <a:pt x="8195310" y="0"/>
                  </a:lnTo>
                  <a:lnTo>
                    <a:pt x="7310120" y="0"/>
                  </a:lnTo>
                  <a:close/>
                </a:path>
              </a:pathLst>
            </a:custGeom>
            <a:solidFill>
              <a:srgbClr val="0086B3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29870" y="195580"/>
              <a:ext cx="7091680" cy="4118610"/>
            </a:xfrm>
            <a:custGeom>
              <a:avLst/>
              <a:gdLst/>
              <a:ahLst/>
              <a:cxnLst/>
              <a:rect r="r" b="b" t="t" l="l"/>
              <a:pathLst>
                <a:path h="4118610" w="7091680">
                  <a:moveTo>
                    <a:pt x="4605020" y="218440"/>
                  </a:moveTo>
                  <a:lnTo>
                    <a:pt x="4495800" y="109220"/>
                  </a:lnTo>
                  <a:lnTo>
                    <a:pt x="4605020" y="0"/>
                  </a:lnTo>
                  <a:lnTo>
                    <a:pt x="4714240" y="109220"/>
                  </a:lnTo>
                  <a:lnTo>
                    <a:pt x="4605020" y="218440"/>
                  </a:lnTo>
                  <a:close/>
                  <a:moveTo>
                    <a:pt x="218440" y="1009650"/>
                  </a:moveTo>
                  <a:lnTo>
                    <a:pt x="109220" y="900430"/>
                  </a:lnTo>
                  <a:lnTo>
                    <a:pt x="0" y="1009650"/>
                  </a:lnTo>
                  <a:lnTo>
                    <a:pt x="109220" y="1118870"/>
                  </a:lnTo>
                  <a:lnTo>
                    <a:pt x="218440" y="1009650"/>
                  </a:lnTo>
                  <a:close/>
                  <a:moveTo>
                    <a:pt x="4495800" y="4009390"/>
                  </a:moveTo>
                  <a:lnTo>
                    <a:pt x="4605020" y="4118610"/>
                  </a:lnTo>
                  <a:lnTo>
                    <a:pt x="4714240" y="4009390"/>
                  </a:lnTo>
                  <a:lnTo>
                    <a:pt x="4605020" y="3900170"/>
                  </a:lnTo>
                  <a:lnTo>
                    <a:pt x="4495800" y="4009390"/>
                  </a:lnTo>
                  <a:close/>
                  <a:moveTo>
                    <a:pt x="0" y="3117850"/>
                  </a:moveTo>
                  <a:lnTo>
                    <a:pt x="109220" y="3227070"/>
                  </a:lnTo>
                  <a:lnTo>
                    <a:pt x="218440" y="3117850"/>
                  </a:lnTo>
                  <a:lnTo>
                    <a:pt x="109220" y="3008630"/>
                  </a:lnTo>
                  <a:lnTo>
                    <a:pt x="0" y="3117850"/>
                  </a:lnTo>
                  <a:close/>
                  <a:moveTo>
                    <a:pt x="7080250" y="2063750"/>
                  </a:moveTo>
                  <a:lnTo>
                    <a:pt x="4906010" y="548640"/>
                  </a:lnTo>
                  <a:lnTo>
                    <a:pt x="4906010" y="706120"/>
                  </a:lnTo>
                  <a:lnTo>
                    <a:pt x="4906010" y="1313180"/>
                  </a:lnTo>
                  <a:lnTo>
                    <a:pt x="4298950" y="1313180"/>
                  </a:lnTo>
                  <a:lnTo>
                    <a:pt x="377190" y="1313180"/>
                  </a:lnTo>
                  <a:lnTo>
                    <a:pt x="377190" y="2816860"/>
                  </a:lnTo>
                  <a:lnTo>
                    <a:pt x="4906010" y="2816860"/>
                  </a:lnTo>
                  <a:lnTo>
                    <a:pt x="4906010" y="3423920"/>
                  </a:lnTo>
                  <a:lnTo>
                    <a:pt x="4906010" y="3580130"/>
                  </a:lnTo>
                  <a:lnTo>
                    <a:pt x="7080250" y="2063750"/>
                  </a:lnTo>
                  <a:lnTo>
                    <a:pt x="7091680" y="2063750"/>
                  </a:lnTo>
                  <a:lnTo>
                    <a:pt x="7080250" y="20637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3370933" y="5816316"/>
            <a:ext cx="154484" cy="371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378300" y="6134344"/>
            <a:ext cx="139750" cy="371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F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345409" y="6455475"/>
            <a:ext cx="205532" cy="371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2566782" y="7434461"/>
            <a:ext cx="2178950" cy="950812"/>
            <a:chOff x="0" y="0"/>
            <a:chExt cx="573880" cy="2504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73880" cy="250420"/>
            </a:xfrm>
            <a:custGeom>
              <a:avLst/>
              <a:gdLst/>
              <a:ahLst/>
              <a:cxnLst/>
              <a:rect r="r" b="b" t="t" l="l"/>
              <a:pathLst>
                <a:path h="250420" w="573880">
                  <a:moveTo>
                    <a:pt x="35531" y="0"/>
                  </a:moveTo>
                  <a:lnTo>
                    <a:pt x="538349" y="0"/>
                  </a:lnTo>
                  <a:cubicBezTo>
                    <a:pt x="557972" y="0"/>
                    <a:pt x="573880" y="15908"/>
                    <a:pt x="573880" y="35531"/>
                  </a:cubicBezTo>
                  <a:lnTo>
                    <a:pt x="573880" y="214889"/>
                  </a:lnTo>
                  <a:cubicBezTo>
                    <a:pt x="573880" y="234512"/>
                    <a:pt x="557972" y="250420"/>
                    <a:pt x="538349" y="250420"/>
                  </a:cubicBezTo>
                  <a:lnTo>
                    <a:pt x="35531" y="250420"/>
                  </a:lnTo>
                  <a:cubicBezTo>
                    <a:pt x="15908" y="250420"/>
                    <a:pt x="0" y="234512"/>
                    <a:pt x="0" y="214889"/>
                  </a:cubicBezTo>
                  <a:lnTo>
                    <a:pt x="0" y="35531"/>
                  </a:lnTo>
                  <a:cubicBezTo>
                    <a:pt x="0" y="15908"/>
                    <a:pt x="15908" y="0"/>
                    <a:pt x="35531" y="0"/>
                  </a:cubicBezTo>
                  <a:close/>
                </a:path>
              </a:pathLst>
            </a:custGeom>
            <a:solidFill>
              <a:srgbClr val="9FCFF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573880" cy="288520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080"/>
                </a:lnSpc>
              </a:pPr>
              <a:r>
                <a:rPr lang="en-US" sz="2200" spc="22">
                  <a:solidFill>
                    <a:srgbClr val="1F294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Cluster 1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4891478" y="7374640"/>
            <a:ext cx="154484" cy="371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898845" y="7692668"/>
            <a:ext cx="139750" cy="371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F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865954" y="8013799"/>
            <a:ext cx="205532" cy="371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4330744" y="8992785"/>
            <a:ext cx="2178950" cy="950812"/>
            <a:chOff x="0" y="0"/>
            <a:chExt cx="573880" cy="2504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3880" cy="250420"/>
            </a:xfrm>
            <a:custGeom>
              <a:avLst/>
              <a:gdLst/>
              <a:ahLst/>
              <a:cxnLst/>
              <a:rect r="r" b="b" t="t" l="l"/>
              <a:pathLst>
                <a:path h="250420" w="573880">
                  <a:moveTo>
                    <a:pt x="35531" y="0"/>
                  </a:moveTo>
                  <a:lnTo>
                    <a:pt x="538349" y="0"/>
                  </a:lnTo>
                  <a:cubicBezTo>
                    <a:pt x="557972" y="0"/>
                    <a:pt x="573880" y="15908"/>
                    <a:pt x="573880" y="35531"/>
                  </a:cubicBezTo>
                  <a:lnTo>
                    <a:pt x="573880" y="214889"/>
                  </a:lnTo>
                  <a:cubicBezTo>
                    <a:pt x="573880" y="234512"/>
                    <a:pt x="557972" y="250420"/>
                    <a:pt x="538349" y="250420"/>
                  </a:cubicBezTo>
                  <a:lnTo>
                    <a:pt x="35531" y="250420"/>
                  </a:lnTo>
                  <a:cubicBezTo>
                    <a:pt x="15908" y="250420"/>
                    <a:pt x="0" y="234512"/>
                    <a:pt x="0" y="214889"/>
                  </a:cubicBezTo>
                  <a:lnTo>
                    <a:pt x="0" y="35531"/>
                  </a:lnTo>
                  <a:cubicBezTo>
                    <a:pt x="0" y="15908"/>
                    <a:pt x="15908" y="0"/>
                    <a:pt x="35531" y="0"/>
                  </a:cubicBezTo>
                  <a:close/>
                </a:path>
              </a:pathLst>
            </a:custGeom>
            <a:solidFill>
              <a:srgbClr val="9FCFF9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573880" cy="288520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080"/>
                </a:lnSpc>
              </a:pPr>
              <a:r>
                <a:rPr lang="en-US" sz="2200" spc="22">
                  <a:solidFill>
                    <a:srgbClr val="1F294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Cluster 2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6655440" y="8932963"/>
            <a:ext cx="154484" cy="371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662807" y="9250991"/>
            <a:ext cx="139750" cy="371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F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629916" y="9572123"/>
            <a:ext cx="205532" cy="371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3639587" y="6260354"/>
            <a:ext cx="331800" cy="182379"/>
            <a:chOff x="0" y="0"/>
            <a:chExt cx="8195310" cy="450469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365"/>
              <a:ext cx="8195310" cy="3012075"/>
            </a:xfrm>
            <a:custGeom>
              <a:avLst/>
              <a:gdLst/>
              <a:ahLst/>
              <a:cxnLst/>
              <a:rect r="r" b="b" t="t" l="l"/>
              <a:pathLst>
                <a:path h="3012075" w="8195310">
                  <a:moveTo>
                    <a:pt x="8195310" y="2260235"/>
                  </a:moveTo>
                  <a:lnTo>
                    <a:pt x="4986020" y="51705"/>
                  </a:lnTo>
                  <a:cubicBezTo>
                    <a:pt x="4792980" y="-80375"/>
                    <a:pt x="4530090" y="55515"/>
                    <a:pt x="4528820" y="290465"/>
                  </a:cubicBezTo>
                  <a:lnTo>
                    <a:pt x="4528820" y="322215"/>
                  </a:lnTo>
                  <a:lnTo>
                    <a:pt x="4528820" y="901335"/>
                  </a:lnTo>
                  <a:lnTo>
                    <a:pt x="607060" y="901335"/>
                  </a:lnTo>
                  <a:lnTo>
                    <a:pt x="292100" y="901335"/>
                  </a:lnTo>
                  <a:cubicBezTo>
                    <a:pt x="130810" y="901335"/>
                    <a:pt x="0" y="1032145"/>
                    <a:pt x="0" y="1193435"/>
                  </a:cubicBezTo>
                  <a:lnTo>
                    <a:pt x="0" y="3012075"/>
                  </a:lnTo>
                  <a:lnTo>
                    <a:pt x="607060" y="3012075"/>
                  </a:lnTo>
                  <a:lnTo>
                    <a:pt x="607060" y="1507125"/>
                  </a:lnTo>
                  <a:lnTo>
                    <a:pt x="4528820" y="1507125"/>
                  </a:lnTo>
                  <a:lnTo>
                    <a:pt x="5135880" y="1507125"/>
                  </a:lnTo>
                  <a:lnTo>
                    <a:pt x="5135880" y="743855"/>
                  </a:lnTo>
                  <a:lnTo>
                    <a:pt x="7310120" y="2258965"/>
                  </a:lnTo>
                  <a:lnTo>
                    <a:pt x="8195310" y="2260235"/>
                  </a:lnTo>
                  <a:close/>
                </a:path>
              </a:pathLst>
            </a:custGeom>
            <a:solidFill>
              <a:srgbClr val="9FCFF9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2260600"/>
              <a:ext cx="8195310" cy="2244772"/>
            </a:xfrm>
            <a:custGeom>
              <a:avLst/>
              <a:gdLst/>
              <a:ahLst/>
              <a:cxnLst/>
              <a:rect r="r" b="b" t="t" l="l"/>
              <a:pathLst>
                <a:path h="2244772" w="8195310">
                  <a:moveTo>
                    <a:pt x="7310120" y="0"/>
                  </a:moveTo>
                  <a:lnTo>
                    <a:pt x="5135880" y="1515110"/>
                  </a:lnTo>
                  <a:lnTo>
                    <a:pt x="5135880" y="751840"/>
                  </a:lnTo>
                  <a:lnTo>
                    <a:pt x="0" y="751840"/>
                  </a:lnTo>
                  <a:lnTo>
                    <a:pt x="0" y="1358900"/>
                  </a:lnTo>
                  <a:lnTo>
                    <a:pt x="4528820" y="1358900"/>
                  </a:lnTo>
                  <a:lnTo>
                    <a:pt x="4528820" y="1938020"/>
                  </a:lnTo>
                  <a:cubicBezTo>
                    <a:pt x="4531360" y="2185670"/>
                    <a:pt x="4808220" y="2330450"/>
                    <a:pt x="5012690" y="2189480"/>
                  </a:cubicBezTo>
                  <a:lnTo>
                    <a:pt x="8195310" y="0"/>
                  </a:lnTo>
                  <a:lnTo>
                    <a:pt x="7310120" y="0"/>
                  </a:lnTo>
                  <a:close/>
                </a:path>
              </a:pathLst>
            </a:custGeom>
            <a:solidFill>
              <a:srgbClr val="0086B3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229870" y="195580"/>
              <a:ext cx="7091680" cy="4118610"/>
            </a:xfrm>
            <a:custGeom>
              <a:avLst/>
              <a:gdLst/>
              <a:ahLst/>
              <a:cxnLst/>
              <a:rect r="r" b="b" t="t" l="l"/>
              <a:pathLst>
                <a:path h="4118610" w="7091680">
                  <a:moveTo>
                    <a:pt x="4605020" y="218440"/>
                  </a:moveTo>
                  <a:lnTo>
                    <a:pt x="4495800" y="109220"/>
                  </a:lnTo>
                  <a:lnTo>
                    <a:pt x="4605020" y="0"/>
                  </a:lnTo>
                  <a:lnTo>
                    <a:pt x="4714240" y="109220"/>
                  </a:lnTo>
                  <a:lnTo>
                    <a:pt x="4605020" y="218440"/>
                  </a:lnTo>
                  <a:close/>
                  <a:moveTo>
                    <a:pt x="218440" y="1009650"/>
                  </a:moveTo>
                  <a:lnTo>
                    <a:pt x="109220" y="900430"/>
                  </a:lnTo>
                  <a:lnTo>
                    <a:pt x="0" y="1009650"/>
                  </a:lnTo>
                  <a:lnTo>
                    <a:pt x="109220" y="1118870"/>
                  </a:lnTo>
                  <a:lnTo>
                    <a:pt x="218440" y="1009650"/>
                  </a:lnTo>
                  <a:close/>
                  <a:moveTo>
                    <a:pt x="4495800" y="4009390"/>
                  </a:moveTo>
                  <a:lnTo>
                    <a:pt x="4605020" y="4118610"/>
                  </a:lnTo>
                  <a:lnTo>
                    <a:pt x="4714240" y="4009390"/>
                  </a:lnTo>
                  <a:lnTo>
                    <a:pt x="4605020" y="3900170"/>
                  </a:lnTo>
                  <a:lnTo>
                    <a:pt x="4495800" y="4009390"/>
                  </a:lnTo>
                  <a:close/>
                  <a:moveTo>
                    <a:pt x="0" y="3117850"/>
                  </a:moveTo>
                  <a:lnTo>
                    <a:pt x="109220" y="3227070"/>
                  </a:lnTo>
                  <a:lnTo>
                    <a:pt x="218440" y="3117850"/>
                  </a:lnTo>
                  <a:lnTo>
                    <a:pt x="109220" y="3008630"/>
                  </a:lnTo>
                  <a:lnTo>
                    <a:pt x="0" y="3117850"/>
                  </a:lnTo>
                  <a:close/>
                  <a:moveTo>
                    <a:pt x="7080250" y="2063750"/>
                  </a:moveTo>
                  <a:lnTo>
                    <a:pt x="4906010" y="548640"/>
                  </a:lnTo>
                  <a:lnTo>
                    <a:pt x="4906010" y="706120"/>
                  </a:lnTo>
                  <a:lnTo>
                    <a:pt x="4906010" y="1313180"/>
                  </a:lnTo>
                  <a:lnTo>
                    <a:pt x="4298950" y="1313180"/>
                  </a:lnTo>
                  <a:lnTo>
                    <a:pt x="377190" y="1313180"/>
                  </a:lnTo>
                  <a:lnTo>
                    <a:pt x="377190" y="2816860"/>
                  </a:lnTo>
                  <a:lnTo>
                    <a:pt x="4906010" y="2816860"/>
                  </a:lnTo>
                  <a:lnTo>
                    <a:pt x="4906010" y="3423920"/>
                  </a:lnTo>
                  <a:lnTo>
                    <a:pt x="4906010" y="3580130"/>
                  </a:lnTo>
                  <a:lnTo>
                    <a:pt x="7080250" y="2063750"/>
                  </a:lnTo>
                  <a:lnTo>
                    <a:pt x="7091680" y="2063750"/>
                  </a:lnTo>
                  <a:lnTo>
                    <a:pt x="7080250" y="20637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3639587" y="6598836"/>
            <a:ext cx="331800" cy="182379"/>
            <a:chOff x="0" y="0"/>
            <a:chExt cx="8195310" cy="450469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365"/>
              <a:ext cx="8195310" cy="3012075"/>
            </a:xfrm>
            <a:custGeom>
              <a:avLst/>
              <a:gdLst/>
              <a:ahLst/>
              <a:cxnLst/>
              <a:rect r="r" b="b" t="t" l="l"/>
              <a:pathLst>
                <a:path h="3012075" w="8195310">
                  <a:moveTo>
                    <a:pt x="8195310" y="2260235"/>
                  </a:moveTo>
                  <a:lnTo>
                    <a:pt x="4986020" y="51705"/>
                  </a:lnTo>
                  <a:cubicBezTo>
                    <a:pt x="4792980" y="-80375"/>
                    <a:pt x="4530090" y="55515"/>
                    <a:pt x="4528820" y="290465"/>
                  </a:cubicBezTo>
                  <a:lnTo>
                    <a:pt x="4528820" y="322215"/>
                  </a:lnTo>
                  <a:lnTo>
                    <a:pt x="4528820" y="901335"/>
                  </a:lnTo>
                  <a:lnTo>
                    <a:pt x="607060" y="901335"/>
                  </a:lnTo>
                  <a:lnTo>
                    <a:pt x="292100" y="901335"/>
                  </a:lnTo>
                  <a:cubicBezTo>
                    <a:pt x="130810" y="901335"/>
                    <a:pt x="0" y="1032145"/>
                    <a:pt x="0" y="1193435"/>
                  </a:cubicBezTo>
                  <a:lnTo>
                    <a:pt x="0" y="3012075"/>
                  </a:lnTo>
                  <a:lnTo>
                    <a:pt x="607060" y="3012075"/>
                  </a:lnTo>
                  <a:lnTo>
                    <a:pt x="607060" y="1507125"/>
                  </a:lnTo>
                  <a:lnTo>
                    <a:pt x="4528820" y="1507125"/>
                  </a:lnTo>
                  <a:lnTo>
                    <a:pt x="5135880" y="1507125"/>
                  </a:lnTo>
                  <a:lnTo>
                    <a:pt x="5135880" y="743855"/>
                  </a:lnTo>
                  <a:lnTo>
                    <a:pt x="7310120" y="2258965"/>
                  </a:lnTo>
                  <a:lnTo>
                    <a:pt x="8195310" y="2260235"/>
                  </a:lnTo>
                  <a:close/>
                </a:path>
              </a:pathLst>
            </a:custGeom>
            <a:solidFill>
              <a:srgbClr val="9FCFF9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2260600"/>
              <a:ext cx="8195310" cy="2244772"/>
            </a:xfrm>
            <a:custGeom>
              <a:avLst/>
              <a:gdLst/>
              <a:ahLst/>
              <a:cxnLst/>
              <a:rect r="r" b="b" t="t" l="l"/>
              <a:pathLst>
                <a:path h="2244772" w="8195310">
                  <a:moveTo>
                    <a:pt x="7310120" y="0"/>
                  </a:moveTo>
                  <a:lnTo>
                    <a:pt x="5135880" y="1515110"/>
                  </a:lnTo>
                  <a:lnTo>
                    <a:pt x="5135880" y="751840"/>
                  </a:lnTo>
                  <a:lnTo>
                    <a:pt x="0" y="751840"/>
                  </a:lnTo>
                  <a:lnTo>
                    <a:pt x="0" y="1358900"/>
                  </a:lnTo>
                  <a:lnTo>
                    <a:pt x="4528820" y="1358900"/>
                  </a:lnTo>
                  <a:lnTo>
                    <a:pt x="4528820" y="1938020"/>
                  </a:lnTo>
                  <a:cubicBezTo>
                    <a:pt x="4531360" y="2185670"/>
                    <a:pt x="4808220" y="2330450"/>
                    <a:pt x="5012690" y="2189480"/>
                  </a:cubicBezTo>
                  <a:lnTo>
                    <a:pt x="8195310" y="0"/>
                  </a:lnTo>
                  <a:lnTo>
                    <a:pt x="7310120" y="0"/>
                  </a:lnTo>
                  <a:close/>
                </a:path>
              </a:pathLst>
            </a:custGeom>
            <a:solidFill>
              <a:srgbClr val="0086B3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229870" y="195580"/>
              <a:ext cx="7091680" cy="4118610"/>
            </a:xfrm>
            <a:custGeom>
              <a:avLst/>
              <a:gdLst/>
              <a:ahLst/>
              <a:cxnLst/>
              <a:rect r="r" b="b" t="t" l="l"/>
              <a:pathLst>
                <a:path h="4118610" w="7091680">
                  <a:moveTo>
                    <a:pt x="4605020" y="218440"/>
                  </a:moveTo>
                  <a:lnTo>
                    <a:pt x="4495800" y="109220"/>
                  </a:lnTo>
                  <a:lnTo>
                    <a:pt x="4605020" y="0"/>
                  </a:lnTo>
                  <a:lnTo>
                    <a:pt x="4714240" y="109220"/>
                  </a:lnTo>
                  <a:lnTo>
                    <a:pt x="4605020" y="218440"/>
                  </a:lnTo>
                  <a:close/>
                  <a:moveTo>
                    <a:pt x="218440" y="1009650"/>
                  </a:moveTo>
                  <a:lnTo>
                    <a:pt x="109220" y="900430"/>
                  </a:lnTo>
                  <a:lnTo>
                    <a:pt x="0" y="1009650"/>
                  </a:lnTo>
                  <a:lnTo>
                    <a:pt x="109220" y="1118870"/>
                  </a:lnTo>
                  <a:lnTo>
                    <a:pt x="218440" y="1009650"/>
                  </a:lnTo>
                  <a:close/>
                  <a:moveTo>
                    <a:pt x="4495800" y="4009390"/>
                  </a:moveTo>
                  <a:lnTo>
                    <a:pt x="4605020" y="4118610"/>
                  </a:lnTo>
                  <a:lnTo>
                    <a:pt x="4714240" y="4009390"/>
                  </a:lnTo>
                  <a:lnTo>
                    <a:pt x="4605020" y="3900170"/>
                  </a:lnTo>
                  <a:lnTo>
                    <a:pt x="4495800" y="4009390"/>
                  </a:lnTo>
                  <a:close/>
                  <a:moveTo>
                    <a:pt x="0" y="3117850"/>
                  </a:moveTo>
                  <a:lnTo>
                    <a:pt x="109220" y="3227070"/>
                  </a:lnTo>
                  <a:lnTo>
                    <a:pt x="218440" y="3117850"/>
                  </a:lnTo>
                  <a:lnTo>
                    <a:pt x="109220" y="3008630"/>
                  </a:lnTo>
                  <a:lnTo>
                    <a:pt x="0" y="3117850"/>
                  </a:lnTo>
                  <a:close/>
                  <a:moveTo>
                    <a:pt x="7080250" y="2063750"/>
                  </a:moveTo>
                  <a:lnTo>
                    <a:pt x="4906010" y="548640"/>
                  </a:lnTo>
                  <a:lnTo>
                    <a:pt x="4906010" y="706120"/>
                  </a:lnTo>
                  <a:lnTo>
                    <a:pt x="4906010" y="1313180"/>
                  </a:lnTo>
                  <a:lnTo>
                    <a:pt x="4298950" y="1313180"/>
                  </a:lnTo>
                  <a:lnTo>
                    <a:pt x="377190" y="1313180"/>
                  </a:lnTo>
                  <a:lnTo>
                    <a:pt x="377190" y="2816860"/>
                  </a:lnTo>
                  <a:lnTo>
                    <a:pt x="4906010" y="2816860"/>
                  </a:lnTo>
                  <a:lnTo>
                    <a:pt x="4906010" y="3423920"/>
                  </a:lnTo>
                  <a:lnTo>
                    <a:pt x="4906010" y="3580130"/>
                  </a:lnTo>
                  <a:lnTo>
                    <a:pt x="7080250" y="2063750"/>
                  </a:lnTo>
                  <a:lnTo>
                    <a:pt x="7091680" y="2063750"/>
                  </a:lnTo>
                  <a:lnTo>
                    <a:pt x="7080250" y="20637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1804726">
            <a:off x="5118269" y="7502525"/>
            <a:ext cx="331800" cy="182379"/>
            <a:chOff x="0" y="0"/>
            <a:chExt cx="8195310" cy="450469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365"/>
              <a:ext cx="8195310" cy="3012075"/>
            </a:xfrm>
            <a:custGeom>
              <a:avLst/>
              <a:gdLst/>
              <a:ahLst/>
              <a:cxnLst/>
              <a:rect r="r" b="b" t="t" l="l"/>
              <a:pathLst>
                <a:path h="3012075" w="8195310">
                  <a:moveTo>
                    <a:pt x="8195310" y="2260235"/>
                  </a:moveTo>
                  <a:lnTo>
                    <a:pt x="4986020" y="51705"/>
                  </a:lnTo>
                  <a:cubicBezTo>
                    <a:pt x="4792980" y="-80375"/>
                    <a:pt x="4530090" y="55515"/>
                    <a:pt x="4528820" y="290465"/>
                  </a:cubicBezTo>
                  <a:lnTo>
                    <a:pt x="4528820" y="322215"/>
                  </a:lnTo>
                  <a:lnTo>
                    <a:pt x="4528820" y="901335"/>
                  </a:lnTo>
                  <a:lnTo>
                    <a:pt x="607060" y="901335"/>
                  </a:lnTo>
                  <a:lnTo>
                    <a:pt x="292100" y="901335"/>
                  </a:lnTo>
                  <a:cubicBezTo>
                    <a:pt x="130810" y="901335"/>
                    <a:pt x="0" y="1032145"/>
                    <a:pt x="0" y="1193435"/>
                  </a:cubicBezTo>
                  <a:lnTo>
                    <a:pt x="0" y="3012075"/>
                  </a:lnTo>
                  <a:lnTo>
                    <a:pt x="607060" y="3012075"/>
                  </a:lnTo>
                  <a:lnTo>
                    <a:pt x="607060" y="1507125"/>
                  </a:lnTo>
                  <a:lnTo>
                    <a:pt x="4528820" y="1507125"/>
                  </a:lnTo>
                  <a:lnTo>
                    <a:pt x="5135880" y="1507125"/>
                  </a:lnTo>
                  <a:lnTo>
                    <a:pt x="5135880" y="743855"/>
                  </a:lnTo>
                  <a:lnTo>
                    <a:pt x="7310120" y="2258965"/>
                  </a:lnTo>
                  <a:lnTo>
                    <a:pt x="8195310" y="2260235"/>
                  </a:lnTo>
                  <a:close/>
                </a:path>
              </a:pathLst>
            </a:custGeom>
            <a:solidFill>
              <a:srgbClr val="9FCFF9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2260600"/>
              <a:ext cx="8195310" cy="2244772"/>
            </a:xfrm>
            <a:custGeom>
              <a:avLst/>
              <a:gdLst/>
              <a:ahLst/>
              <a:cxnLst/>
              <a:rect r="r" b="b" t="t" l="l"/>
              <a:pathLst>
                <a:path h="2244772" w="8195310">
                  <a:moveTo>
                    <a:pt x="7310120" y="0"/>
                  </a:moveTo>
                  <a:lnTo>
                    <a:pt x="5135880" y="1515110"/>
                  </a:lnTo>
                  <a:lnTo>
                    <a:pt x="5135880" y="751840"/>
                  </a:lnTo>
                  <a:lnTo>
                    <a:pt x="0" y="751840"/>
                  </a:lnTo>
                  <a:lnTo>
                    <a:pt x="0" y="1358900"/>
                  </a:lnTo>
                  <a:lnTo>
                    <a:pt x="4528820" y="1358900"/>
                  </a:lnTo>
                  <a:lnTo>
                    <a:pt x="4528820" y="1938020"/>
                  </a:lnTo>
                  <a:cubicBezTo>
                    <a:pt x="4531360" y="2185670"/>
                    <a:pt x="4808220" y="2330450"/>
                    <a:pt x="5012690" y="2189480"/>
                  </a:cubicBezTo>
                  <a:lnTo>
                    <a:pt x="8195310" y="0"/>
                  </a:lnTo>
                  <a:lnTo>
                    <a:pt x="7310120" y="0"/>
                  </a:lnTo>
                  <a:close/>
                </a:path>
              </a:pathLst>
            </a:custGeom>
            <a:solidFill>
              <a:srgbClr val="0086B3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229870" y="195580"/>
              <a:ext cx="7091680" cy="4118610"/>
            </a:xfrm>
            <a:custGeom>
              <a:avLst/>
              <a:gdLst/>
              <a:ahLst/>
              <a:cxnLst/>
              <a:rect r="r" b="b" t="t" l="l"/>
              <a:pathLst>
                <a:path h="4118610" w="7091680">
                  <a:moveTo>
                    <a:pt x="4605020" y="218440"/>
                  </a:moveTo>
                  <a:lnTo>
                    <a:pt x="4495800" y="109220"/>
                  </a:lnTo>
                  <a:lnTo>
                    <a:pt x="4605020" y="0"/>
                  </a:lnTo>
                  <a:lnTo>
                    <a:pt x="4714240" y="109220"/>
                  </a:lnTo>
                  <a:lnTo>
                    <a:pt x="4605020" y="218440"/>
                  </a:lnTo>
                  <a:close/>
                  <a:moveTo>
                    <a:pt x="218440" y="1009650"/>
                  </a:moveTo>
                  <a:lnTo>
                    <a:pt x="109220" y="900430"/>
                  </a:lnTo>
                  <a:lnTo>
                    <a:pt x="0" y="1009650"/>
                  </a:lnTo>
                  <a:lnTo>
                    <a:pt x="109220" y="1118870"/>
                  </a:lnTo>
                  <a:lnTo>
                    <a:pt x="218440" y="1009650"/>
                  </a:lnTo>
                  <a:close/>
                  <a:moveTo>
                    <a:pt x="4495800" y="4009390"/>
                  </a:moveTo>
                  <a:lnTo>
                    <a:pt x="4605020" y="4118610"/>
                  </a:lnTo>
                  <a:lnTo>
                    <a:pt x="4714240" y="4009390"/>
                  </a:lnTo>
                  <a:lnTo>
                    <a:pt x="4605020" y="3900170"/>
                  </a:lnTo>
                  <a:lnTo>
                    <a:pt x="4495800" y="4009390"/>
                  </a:lnTo>
                  <a:close/>
                  <a:moveTo>
                    <a:pt x="0" y="3117850"/>
                  </a:moveTo>
                  <a:lnTo>
                    <a:pt x="109220" y="3227070"/>
                  </a:lnTo>
                  <a:lnTo>
                    <a:pt x="218440" y="3117850"/>
                  </a:lnTo>
                  <a:lnTo>
                    <a:pt x="109220" y="3008630"/>
                  </a:lnTo>
                  <a:lnTo>
                    <a:pt x="0" y="3117850"/>
                  </a:lnTo>
                  <a:close/>
                  <a:moveTo>
                    <a:pt x="7080250" y="2063750"/>
                  </a:moveTo>
                  <a:lnTo>
                    <a:pt x="4906010" y="548640"/>
                  </a:lnTo>
                  <a:lnTo>
                    <a:pt x="4906010" y="706120"/>
                  </a:lnTo>
                  <a:lnTo>
                    <a:pt x="4906010" y="1313180"/>
                  </a:lnTo>
                  <a:lnTo>
                    <a:pt x="4298950" y="1313180"/>
                  </a:lnTo>
                  <a:lnTo>
                    <a:pt x="377190" y="1313180"/>
                  </a:lnTo>
                  <a:lnTo>
                    <a:pt x="377190" y="2816860"/>
                  </a:lnTo>
                  <a:lnTo>
                    <a:pt x="4906010" y="2816860"/>
                  </a:lnTo>
                  <a:lnTo>
                    <a:pt x="4906010" y="3423920"/>
                  </a:lnTo>
                  <a:lnTo>
                    <a:pt x="4906010" y="3580130"/>
                  </a:lnTo>
                  <a:lnTo>
                    <a:pt x="7080250" y="2063750"/>
                  </a:lnTo>
                  <a:lnTo>
                    <a:pt x="7091680" y="2063750"/>
                  </a:lnTo>
                  <a:lnTo>
                    <a:pt x="7080250" y="20637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3" id="43"/>
          <p:cNvGrpSpPr/>
          <p:nvPr/>
        </p:nvGrpSpPr>
        <p:grpSpPr>
          <a:xfrm rot="-1777110">
            <a:off x="5118297" y="7816190"/>
            <a:ext cx="331800" cy="182379"/>
            <a:chOff x="0" y="0"/>
            <a:chExt cx="8195310" cy="450469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365"/>
              <a:ext cx="8195310" cy="3012075"/>
            </a:xfrm>
            <a:custGeom>
              <a:avLst/>
              <a:gdLst/>
              <a:ahLst/>
              <a:cxnLst/>
              <a:rect r="r" b="b" t="t" l="l"/>
              <a:pathLst>
                <a:path h="3012075" w="8195310">
                  <a:moveTo>
                    <a:pt x="8195310" y="2260235"/>
                  </a:moveTo>
                  <a:lnTo>
                    <a:pt x="4986020" y="51705"/>
                  </a:lnTo>
                  <a:cubicBezTo>
                    <a:pt x="4792980" y="-80375"/>
                    <a:pt x="4530090" y="55515"/>
                    <a:pt x="4528820" y="290465"/>
                  </a:cubicBezTo>
                  <a:lnTo>
                    <a:pt x="4528820" y="322215"/>
                  </a:lnTo>
                  <a:lnTo>
                    <a:pt x="4528820" y="901335"/>
                  </a:lnTo>
                  <a:lnTo>
                    <a:pt x="607060" y="901335"/>
                  </a:lnTo>
                  <a:lnTo>
                    <a:pt x="292100" y="901335"/>
                  </a:lnTo>
                  <a:cubicBezTo>
                    <a:pt x="130810" y="901335"/>
                    <a:pt x="0" y="1032145"/>
                    <a:pt x="0" y="1193435"/>
                  </a:cubicBezTo>
                  <a:lnTo>
                    <a:pt x="0" y="3012075"/>
                  </a:lnTo>
                  <a:lnTo>
                    <a:pt x="607060" y="3012075"/>
                  </a:lnTo>
                  <a:lnTo>
                    <a:pt x="607060" y="1507125"/>
                  </a:lnTo>
                  <a:lnTo>
                    <a:pt x="4528820" y="1507125"/>
                  </a:lnTo>
                  <a:lnTo>
                    <a:pt x="5135880" y="1507125"/>
                  </a:lnTo>
                  <a:lnTo>
                    <a:pt x="5135880" y="743855"/>
                  </a:lnTo>
                  <a:lnTo>
                    <a:pt x="7310120" y="2258965"/>
                  </a:lnTo>
                  <a:lnTo>
                    <a:pt x="8195310" y="2260235"/>
                  </a:lnTo>
                  <a:close/>
                </a:path>
              </a:pathLst>
            </a:custGeom>
            <a:solidFill>
              <a:srgbClr val="9FCFF9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2260600"/>
              <a:ext cx="8195310" cy="2244772"/>
            </a:xfrm>
            <a:custGeom>
              <a:avLst/>
              <a:gdLst/>
              <a:ahLst/>
              <a:cxnLst/>
              <a:rect r="r" b="b" t="t" l="l"/>
              <a:pathLst>
                <a:path h="2244772" w="8195310">
                  <a:moveTo>
                    <a:pt x="7310120" y="0"/>
                  </a:moveTo>
                  <a:lnTo>
                    <a:pt x="5135880" y="1515110"/>
                  </a:lnTo>
                  <a:lnTo>
                    <a:pt x="5135880" y="751840"/>
                  </a:lnTo>
                  <a:lnTo>
                    <a:pt x="0" y="751840"/>
                  </a:lnTo>
                  <a:lnTo>
                    <a:pt x="0" y="1358900"/>
                  </a:lnTo>
                  <a:lnTo>
                    <a:pt x="4528820" y="1358900"/>
                  </a:lnTo>
                  <a:lnTo>
                    <a:pt x="4528820" y="1938020"/>
                  </a:lnTo>
                  <a:cubicBezTo>
                    <a:pt x="4531360" y="2185670"/>
                    <a:pt x="4808220" y="2330450"/>
                    <a:pt x="5012690" y="2189480"/>
                  </a:cubicBezTo>
                  <a:lnTo>
                    <a:pt x="8195310" y="0"/>
                  </a:lnTo>
                  <a:lnTo>
                    <a:pt x="7310120" y="0"/>
                  </a:lnTo>
                  <a:close/>
                </a:path>
              </a:pathLst>
            </a:custGeom>
            <a:solidFill>
              <a:srgbClr val="0086B3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229870" y="195580"/>
              <a:ext cx="7091680" cy="4118610"/>
            </a:xfrm>
            <a:custGeom>
              <a:avLst/>
              <a:gdLst/>
              <a:ahLst/>
              <a:cxnLst/>
              <a:rect r="r" b="b" t="t" l="l"/>
              <a:pathLst>
                <a:path h="4118610" w="7091680">
                  <a:moveTo>
                    <a:pt x="4605020" y="218440"/>
                  </a:moveTo>
                  <a:lnTo>
                    <a:pt x="4495800" y="109220"/>
                  </a:lnTo>
                  <a:lnTo>
                    <a:pt x="4605020" y="0"/>
                  </a:lnTo>
                  <a:lnTo>
                    <a:pt x="4714240" y="109220"/>
                  </a:lnTo>
                  <a:lnTo>
                    <a:pt x="4605020" y="218440"/>
                  </a:lnTo>
                  <a:close/>
                  <a:moveTo>
                    <a:pt x="218440" y="1009650"/>
                  </a:moveTo>
                  <a:lnTo>
                    <a:pt x="109220" y="900430"/>
                  </a:lnTo>
                  <a:lnTo>
                    <a:pt x="0" y="1009650"/>
                  </a:lnTo>
                  <a:lnTo>
                    <a:pt x="109220" y="1118870"/>
                  </a:lnTo>
                  <a:lnTo>
                    <a:pt x="218440" y="1009650"/>
                  </a:lnTo>
                  <a:close/>
                  <a:moveTo>
                    <a:pt x="4495800" y="4009390"/>
                  </a:moveTo>
                  <a:lnTo>
                    <a:pt x="4605020" y="4118610"/>
                  </a:lnTo>
                  <a:lnTo>
                    <a:pt x="4714240" y="4009390"/>
                  </a:lnTo>
                  <a:lnTo>
                    <a:pt x="4605020" y="3900170"/>
                  </a:lnTo>
                  <a:lnTo>
                    <a:pt x="4495800" y="4009390"/>
                  </a:lnTo>
                  <a:close/>
                  <a:moveTo>
                    <a:pt x="0" y="3117850"/>
                  </a:moveTo>
                  <a:lnTo>
                    <a:pt x="109220" y="3227070"/>
                  </a:lnTo>
                  <a:lnTo>
                    <a:pt x="218440" y="3117850"/>
                  </a:lnTo>
                  <a:lnTo>
                    <a:pt x="109220" y="3008630"/>
                  </a:lnTo>
                  <a:lnTo>
                    <a:pt x="0" y="3117850"/>
                  </a:lnTo>
                  <a:close/>
                  <a:moveTo>
                    <a:pt x="7080250" y="2063750"/>
                  </a:moveTo>
                  <a:lnTo>
                    <a:pt x="4906010" y="548640"/>
                  </a:lnTo>
                  <a:lnTo>
                    <a:pt x="4906010" y="706120"/>
                  </a:lnTo>
                  <a:lnTo>
                    <a:pt x="4906010" y="1313180"/>
                  </a:lnTo>
                  <a:lnTo>
                    <a:pt x="4298950" y="1313180"/>
                  </a:lnTo>
                  <a:lnTo>
                    <a:pt x="377190" y="1313180"/>
                  </a:lnTo>
                  <a:lnTo>
                    <a:pt x="377190" y="2816860"/>
                  </a:lnTo>
                  <a:lnTo>
                    <a:pt x="4906010" y="2816860"/>
                  </a:lnTo>
                  <a:lnTo>
                    <a:pt x="4906010" y="3423920"/>
                  </a:lnTo>
                  <a:lnTo>
                    <a:pt x="4906010" y="3580130"/>
                  </a:lnTo>
                  <a:lnTo>
                    <a:pt x="7080250" y="2063750"/>
                  </a:lnTo>
                  <a:lnTo>
                    <a:pt x="7091680" y="2063750"/>
                  </a:lnTo>
                  <a:lnTo>
                    <a:pt x="7080250" y="20637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-1782682">
            <a:off x="5141655" y="8134378"/>
            <a:ext cx="331800" cy="182379"/>
            <a:chOff x="0" y="0"/>
            <a:chExt cx="8195310" cy="450469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365"/>
              <a:ext cx="8195310" cy="3012075"/>
            </a:xfrm>
            <a:custGeom>
              <a:avLst/>
              <a:gdLst/>
              <a:ahLst/>
              <a:cxnLst/>
              <a:rect r="r" b="b" t="t" l="l"/>
              <a:pathLst>
                <a:path h="3012075" w="8195310">
                  <a:moveTo>
                    <a:pt x="8195310" y="2260235"/>
                  </a:moveTo>
                  <a:lnTo>
                    <a:pt x="4986020" y="51705"/>
                  </a:lnTo>
                  <a:cubicBezTo>
                    <a:pt x="4792980" y="-80375"/>
                    <a:pt x="4530090" y="55515"/>
                    <a:pt x="4528820" y="290465"/>
                  </a:cubicBezTo>
                  <a:lnTo>
                    <a:pt x="4528820" y="322215"/>
                  </a:lnTo>
                  <a:lnTo>
                    <a:pt x="4528820" y="901335"/>
                  </a:lnTo>
                  <a:lnTo>
                    <a:pt x="607060" y="901335"/>
                  </a:lnTo>
                  <a:lnTo>
                    <a:pt x="292100" y="901335"/>
                  </a:lnTo>
                  <a:cubicBezTo>
                    <a:pt x="130810" y="901335"/>
                    <a:pt x="0" y="1032145"/>
                    <a:pt x="0" y="1193435"/>
                  </a:cubicBezTo>
                  <a:lnTo>
                    <a:pt x="0" y="3012075"/>
                  </a:lnTo>
                  <a:lnTo>
                    <a:pt x="607060" y="3012075"/>
                  </a:lnTo>
                  <a:lnTo>
                    <a:pt x="607060" y="1507125"/>
                  </a:lnTo>
                  <a:lnTo>
                    <a:pt x="4528820" y="1507125"/>
                  </a:lnTo>
                  <a:lnTo>
                    <a:pt x="5135880" y="1507125"/>
                  </a:lnTo>
                  <a:lnTo>
                    <a:pt x="5135880" y="743855"/>
                  </a:lnTo>
                  <a:lnTo>
                    <a:pt x="7310120" y="2258965"/>
                  </a:lnTo>
                  <a:lnTo>
                    <a:pt x="8195310" y="2260235"/>
                  </a:lnTo>
                  <a:close/>
                </a:path>
              </a:pathLst>
            </a:custGeom>
            <a:solidFill>
              <a:srgbClr val="9FCFF9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2260600"/>
              <a:ext cx="8195310" cy="2244772"/>
            </a:xfrm>
            <a:custGeom>
              <a:avLst/>
              <a:gdLst/>
              <a:ahLst/>
              <a:cxnLst/>
              <a:rect r="r" b="b" t="t" l="l"/>
              <a:pathLst>
                <a:path h="2244772" w="8195310">
                  <a:moveTo>
                    <a:pt x="7310120" y="0"/>
                  </a:moveTo>
                  <a:lnTo>
                    <a:pt x="5135880" y="1515110"/>
                  </a:lnTo>
                  <a:lnTo>
                    <a:pt x="5135880" y="751840"/>
                  </a:lnTo>
                  <a:lnTo>
                    <a:pt x="0" y="751840"/>
                  </a:lnTo>
                  <a:lnTo>
                    <a:pt x="0" y="1358900"/>
                  </a:lnTo>
                  <a:lnTo>
                    <a:pt x="4528820" y="1358900"/>
                  </a:lnTo>
                  <a:lnTo>
                    <a:pt x="4528820" y="1938020"/>
                  </a:lnTo>
                  <a:cubicBezTo>
                    <a:pt x="4531360" y="2185670"/>
                    <a:pt x="4808220" y="2330450"/>
                    <a:pt x="5012690" y="2189480"/>
                  </a:cubicBezTo>
                  <a:lnTo>
                    <a:pt x="8195310" y="0"/>
                  </a:lnTo>
                  <a:lnTo>
                    <a:pt x="7310120" y="0"/>
                  </a:lnTo>
                  <a:close/>
                </a:path>
              </a:pathLst>
            </a:custGeom>
            <a:solidFill>
              <a:srgbClr val="0086B3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229870" y="195580"/>
              <a:ext cx="7091680" cy="4118610"/>
            </a:xfrm>
            <a:custGeom>
              <a:avLst/>
              <a:gdLst/>
              <a:ahLst/>
              <a:cxnLst/>
              <a:rect r="r" b="b" t="t" l="l"/>
              <a:pathLst>
                <a:path h="4118610" w="7091680">
                  <a:moveTo>
                    <a:pt x="4605020" y="218440"/>
                  </a:moveTo>
                  <a:lnTo>
                    <a:pt x="4495800" y="109220"/>
                  </a:lnTo>
                  <a:lnTo>
                    <a:pt x="4605020" y="0"/>
                  </a:lnTo>
                  <a:lnTo>
                    <a:pt x="4714240" y="109220"/>
                  </a:lnTo>
                  <a:lnTo>
                    <a:pt x="4605020" y="218440"/>
                  </a:lnTo>
                  <a:close/>
                  <a:moveTo>
                    <a:pt x="218440" y="1009650"/>
                  </a:moveTo>
                  <a:lnTo>
                    <a:pt x="109220" y="900430"/>
                  </a:lnTo>
                  <a:lnTo>
                    <a:pt x="0" y="1009650"/>
                  </a:lnTo>
                  <a:lnTo>
                    <a:pt x="109220" y="1118870"/>
                  </a:lnTo>
                  <a:lnTo>
                    <a:pt x="218440" y="1009650"/>
                  </a:lnTo>
                  <a:close/>
                  <a:moveTo>
                    <a:pt x="4495800" y="4009390"/>
                  </a:moveTo>
                  <a:lnTo>
                    <a:pt x="4605020" y="4118610"/>
                  </a:lnTo>
                  <a:lnTo>
                    <a:pt x="4714240" y="4009390"/>
                  </a:lnTo>
                  <a:lnTo>
                    <a:pt x="4605020" y="3900170"/>
                  </a:lnTo>
                  <a:lnTo>
                    <a:pt x="4495800" y="4009390"/>
                  </a:lnTo>
                  <a:close/>
                  <a:moveTo>
                    <a:pt x="0" y="3117850"/>
                  </a:moveTo>
                  <a:lnTo>
                    <a:pt x="109220" y="3227070"/>
                  </a:lnTo>
                  <a:lnTo>
                    <a:pt x="218440" y="3117850"/>
                  </a:lnTo>
                  <a:lnTo>
                    <a:pt x="109220" y="3008630"/>
                  </a:lnTo>
                  <a:lnTo>
                    <a:pt x="0" y="3117850"/>
                  </a:lnTo>
                  <a:close/>
                  <a:moveTo>
                    <a:pt x="7080250" y="2063750"/>
                  </a:moveTo>
                  <a:lnTo>
                    <a:pt x="4906010" y="548640"/>
                  </a:lnTo>
                  <a:lnTo>
                    <a:pt x="4906010" y="706120"/>
                  </a:lnTo>
                  <a:lnTo>
                    <a:pt x="4906010" y="1313180"/>
                  </a:lnTo>
                  <a:lnTo>
                    <a:pt x="4298950" y="1313180"/>
                  </a:lnTo>
                  <a:lnTo>
                    <a:pt x="377190" y="1313180"/>
                  </a:lnTo>
                  <a:lnTo>
                    <a:pt x="377190" y="2816860"/>
                  </a:lnTo>
                  <a:lnTo>
                    <a:pt x="4906010" y="2816860"/>
                  </a:lnTo>
                  <a:lnTo>
                    <a:pt x="4906010" y="3423920"/>
                  </a:lnTo>
                  <a:lnTo>
                    <a:pt x="4906010" y="3580130"/>
                  </a:lnTo>
                  <a:lnTo>
                    <a:pt x="7080250" y="2063750"/>
                  </a:lnTo>
                  <a:lnTo>
                    <a:pt x="7091680" y="2063750"/>
                  </a:lnTo>
                  <a:lnTo>
                    <a:pt x="7080250" y="20637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1" id="51"/>
          <p:cNvGrpSpPr/>
          <p:nvPr/>
        </p:nvGrpSpPr>
        <p:grpSpPr>
          <a:xfrm rot="-1800943">
            <a:off x="6892834" y="9064527"/>
            <a:ext cx="331800" cy="182379"/>
            <a:chOff x="0" y="0"/>
            <a:chExt cx="8195310" cy="450469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365"/>
              <a:ext cx="8195310" cy="3012075"/>
            </a:xfrm>
            <a:custGeom>
              <a:avLst/>
              <a:gdLst/>
              <a:ahLst/>
              <a:cxnLst/>
              <a:rect r="r" b="b" t="t" l="l"/>
              <a:pathLst>
                <a:path h="3012075" w="8195310">
                  <a:moveTo>
                    <a:pt x="8195310" y="2260235"/>
                  </a:moveTo>
                  <a:lnTo>
                    <a:pt x="4986020" y="51705"/>
                  </a:lnTo>
                  <a:cubicBezTo>
                    <a:pt x="4792980" y="-80375"/>
                    <a:pt x="4530090" y="55515"/>
                    <a:pt x="4528820" y="290465"/>
                  </a:cubicBezTo>
                  <a:lnTo>
                    <a:pt x="4528820" y="322215"/>
                  </a:lnTo>
                  <a:lnTo>
                    <a:pt x="4528820" y="901335"/>
                  </a:lnTo>
                  <a:lnTo>
                    <a:pt x="607060" y="901335"/>
                  </a:lnTo>
                  <a:lnTo>
                    <a:pt x="292100" y="901335"/>
                  </a:lnTo>
                  <a:cubicBezTo>
                    <a:pt x="130810" y="901335"/>
                    <a:pt x="0" y="1032145"/>
                    <a:pt x="0" y="1193435"/>
                  </a:cubicBezTo>
                  <a:lnTo>
                    <a:pt x="0" y="3012075"/>
                  </a:lnTo>
                  <a:lnTo>
                    <a:pt x="607060" y="3012075"/>
                  </a:lnTo>
                  <a:lnTo>
                    <a:pt x="607060" y="1507125"/>
                  </a:lnTo>
                  <a:lnTo>
                    <a:pt x="4528820" y="1507125"/>
                  </a:lnTo>
                  <a:lnTo>
                    <a:pt x="5135880" y="1507125"/>
                  </a:lnTo>
                  <a:lnTo>
                    <a:pt x="5135880" y="743855"/>
                  </a:lnTo>
                  <a:lnTo>
                    <a:pt x="7310120" y="2258965"/>
                  </a:lnTo>
                  <a:lnTo>
                    <a:pt x="8195310" y="2260235"/>
                  </a:lnTo>
                  <a:close/>
                </a:path>
              </a:pathLst>
            </a:custGeom>
            <a:solidFill>
              <a:srgbClr val="9FCFF9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2260600"/>
              <a:ext cx="8195310" cy="2244772"/>
            </a:xfrm>
            <a:custGeom>
              <a:avLst/>
              <a:gdLst/>
              <a:ahLst/>
              <a:cxnLst/>
              <a:rect r="r" b="b" t="t" l="l"/>
              <a:pathLst>
                <a:path h="2244772" w="8195310">
                  <a:moveTo>
                    <a:pt x="7310120" y="0"/>
                  </a:moveTo>
                  <a:lnTo>
                    <a:pt x="5135880" y="1515110"/>
                  </a:lnTo>
                  <a:lnTo>
                    <a:pt x="5135880" y="751840"/>
                  </a:lnTo>
                  <a:lnTo>
                    <a:pt x="0" y="751840"/>
                  </a:lnTo>
                  <a:lnTo>
                    <a:pt x="0" y="1358900"/>
                  </a:lnTo>
                  <a:lnTo>
                    <a:pt x="4528820" y="1358900"/>
                  </a:lnTo>
                  <a:lnTo>
                    <a:pt x="4528820" y="1938020"/>
                  </a:lnTo>
                  <a:cubicBezTo>
                    <a:pt x="4531360" y="2185670"/>
                    <a:pt x="4808220" y="2330450"/>
                    <a:pt x="5012690" y="2189480"/>
                  </a:cubicBezTo>
                  <a:lnTo>
                    <a:pt x="8195310" y="0"/>
                  </a:lnTo>
                  <a:lnTo>
                    <a:pt x="7310120" y="0"/>
                  </a:lnTo>
                  <a:close/>
                </a:path>
              </a:pathLst>
            </a:custGeom>
            <a:solidFill>
              <a:srgbClr val="0086B3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229870" y="195580"/>
              <a:ext cx="7091680" cy="4118610"/>
            </a:xfrm>
            <a:custGeom>
              <a:avLst/>
              <a:gdLst/>
              <a:ahLst/>
              <a:cxnLst/>
              <a:rect r="r" b="b" t="t" l="l"/>
              <a:pathLst>
                <a:path h="4118610" w="7091680">
                  <a:moveTo>
                    <a:pt x="4605020" y="218440"/>
                  </a:moveTo>
                  <a:lnTo>
                    <a:pt x="4495800" y="109220"/>
                  </a:lnTo>
                  <a:lnTo>
                    <a:pt x="4605020" y="0"/>
                  </a:lnTo>
                  <a:lnTo>
                    <a:pt x="4714240" y="109220"/>
                  </a:lnTo>
                  <a:lnTo>
                    <a:pt x="4605020" y="218440"/>
                  </a:lnTo>
                  <a:close/>
                  <a:moveTo>
                    <a:pt x="218440" y="1009650"/>
                  </a:moveTo>
                  <a:lnTo>
                    <a:pt x="109220" y="900430"/>
                  </a:lnTo>
                  <a:lnTo>
                    <a:pt x="0" y="1009650"/>
                  </a:lnTo>
                  <a:lnTo>
                    <a:pt x="109220" y="1118870"/>
                  </a:lnTo>
                  <a:lnTo>
                    <a:pt x="218440" y="1009650"/>
                  </a:lnTo>
                  <a:close/>
                  <a:moveTo>
                    <a:pt x="4495800" y="4009390"/>
                  </a:moveTo>
                  <a:lnTo>
                    <a:pt x="4605020" y="4118610"/>
                  </a:lnTo>
                  <a:lnTo>
                    <a:pt x="4714240" y="4009390"/>
                  </a:lnTo>
                  <a:lnTo>
                    <a:pt x="4605020" y="3900170"/>
                  </a:lnTo>
                  <a:lnTo>
                    <a:pt x="4495800" y="4009390"/>
                  </a:lnTo>
                  <a:close/>
                  <a:moveTo>
                    <a:pt x="0" y="3117850"/>
                  </a:moveTo>
                  <a:lnTo>
                    <a:pt x="109220" y="3227070"/>
                  </a:lnTo>
                  <a:lnTo>
                    <a:pt x="218440" y="3117850"/>
                  </a:lnTo>
                  <a:lnTo>
                    <a:pt x="109220" y="3008630"/>
                  </a:lnTo>
                  <a:lnTo>
                    <a:pt x="0" y="3117850"/>
                  </a:lnTo>
                  <a:close/>
                  <a:moveTo>
                    <a:pt x="7080250" y="2063750"/>
                  </a:moveTo>
                  <a:lnTo>
                    <a:pt x="4906010" y="548640"/>
                  </a:lnTo>
                  <a:lnTo>
                    <a:pt x="4906010" y="706120"/>
                  </a:lnTo>
                  <a:lnTo>
                    <a:pt x="4906010" y="1313180"/>
                  </a:lnTo>
                  <a:lnTo>
                    <a:pt x="4298950" y="1313180"/>
                  </a:lnTo>
                  <a:lnTo>
                    <a:pt x="377190" y="1313180"/>
                  </a:lnTo>
                  <a:lnTo>
                    <a:pt x="377190" y="2816860"/>
                  </a:lnTo>
                  <a:lnTo>
                    <a:pt x="4906010" y="2816860"/>
                  </a:lnTo>
                  <a:lnTo>
                    <a:pt x="4906010" y="3423920"/>
                  </a:lnTo>
                  <a:lnTo>
                    <a:pt x="4906010" y="3580130"/>
                  </a:lnTo>
                  <a:lnTo>
                    <a:pt x="7080250" y="2063750"/>
                  </a:lnTo>
                  <a:lnTo>
                    <a:pt x="7091680" y="2063750"/>
                  </a:lnTo>
                  <a:lnTo>
                    <a:pt x="7080250" y="20637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5" id="55"/>
          <p:cNvGrpSpPr/>
          <p:nvPr/>
        </p:nvGrpSpPr>
        <p:grpSpPr>
          <a:xfrm rot="1828149">
            <a:off x="6892796" y="9378876"/>
            <a:ext cx="331800" cy="182379"/>
            <a:chOff x="0" y="0"/>
            <a:chExt cx="8195310" cy="450469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365"/>
              <a:ext cx="8195310" cy="3012075"/>
            </a:xfrm>
            <a:custGeom>
              <a:avLst/>
              <a:gdLst/>
              <a:ahLst/>
              <a:cxnLst/>
              <a:rect r="r" b="b" t="t" l="l"/>
              <a:pathLst>
                <a:path h="3012075" w="8195310">
                  <a:moveTo>
                    <a:pt x="8195310" y="2260235"/>
                  </a:moveTo>
                  <a:lnTo>
                    <a:pt x="4986020" y="51705"/>
                  </a:lnTo>
                  <a:cubicBezTo>
                    <a:pt x="4792980" y="-80375"/>
                    <a:pt x="4530090" y="55515"/>
                    <a:pt x="4528820" y="290465"/>
                  </a:cubicBezTo>
                  <a:lnTo>
                    <a:pt x="4528820" y="322215"/>
                  </a:lnTo>
                  <a:lnTo>
                    <a:pt x="4528820" y="901335"/>
                  </a:lnTo>
                  <a:lnTo>
                    <a:pt x="607060" y="901335"/>
                  </a:lnTo>
                  <a:lnTo>
                    <a:pt x="292100" y="901335"/>
                  </a:lnTo>
                  <a:cubicBezTo>
                    <a:pt x="130810" y="901335"/>
                    <a:pt x="0" y="1032145"/>
                    <a:pt x="0" y="1193435"/>
                  </a:cubicBezTo>
                  <a:lnTo>
                    <a:pt x="0" y="3012075"/>
                  </a:lnTo>
                  <a:lnTo>
                    <a:pt x="607060" y="3012075"/>
                  </a:lnTo>
                  <a:lnTo>
                    <a:pt x="607060" y="1507125"/>
                  </a:lnTo>
                  <a:lnTo>
                    <a:pt x="4528820" y="1507125"/>
                  </a:lnTo>
                  <a:lnTo>
                    <a:pt x="5135880" y="1507125"/>
                  </a:lnTo>
                  <a:lnTo>
                    <a:pt x="5135880" y="743855"/>
                  </a:lnTo>
                  <a:lnTo>
                    <a:pt x="7310120" y="2258965"/>
                  </a:lnTo>
                  <a:lnTo>
                    <a:pt x="8195310" y="2260235"/>
                  </a:lnTo>
                  <a:close/>
                </a:path>
              </a:pathLst>
            </a:custGeom>
            <a:solidFill>
              <a:srgbClr val="9FCFF9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2260600"/>
              <a:ext cx="8195310" cy="2244772"/>
            </a:xfrm>
            <a:custGeom>
              <a:avLst/>
              <a:gdLst/>
              <a:ahLst/>
              <a:cxnLst/>
              <a:rect r="r" b="b" t="t" l="l"/>
              <a:pathLst>
                <a:path h="2244772" w="8195310">
                  <a:moveTo>
                    <a:pt x="7310120" y="0"/>
                  </a:moveTo>
                  <a:lnTo>
                    <a:pt x="5135880" y="1515110"/>
                  </a:lnTo>
                  <a:lnTo>
                    <a:pt x="5135880" y="751840"/>
                  </a:lnTo>
                  <a:lnTo>
                    <a:pt x="0" y="751840"/>
                  </a:lnTo>
                  <a:lnTo>
                    <a:pt x="0" y="1358900"/>
                  </a:lnTo>
                  <a:lnTo>
                    <a:pt x="4528820" y="1358900"/>
                  </a:lnTo>
                  <a:lnTo>
                    <a:pt x="4528820" y="1938020"/>
                  </a:lnTo>
                  <a:cubicBezTo>
                    <a:pt x="4531360" y="2185670"/>
                    <a:pt x="4808220" y="2330450"/>
                    <a:pt x="5012690" y="2189480"/>
                  </a:cubicBezTo>
                  <a:lnTo>
                    <a:pt x="8195310" y="0"/>
                  </a:lnTo>
                  <a:lnTo>
                    <a:pt x="7310120" y="0"/>
                  </a:lnTo>
                  <a:close/>
                </a:path>
              </a:pathLst>
            </a:custGeom>
            <a:solidFill>
              <a:srgbClr val="0086B3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229870" y="195580"/>
              <a:ext cx="7091680" cy="4118610"/>
            </a:xfrm>
            <a:custGeom>
              <a:avLst/>
              <a:gdLst/>
              <a:ahLst/>
              <a:cxnLst/>
              <a:rect r="r" b="b" t="t" l="l"/>
              <a:pathLst>
                <a:path h="4118610" w="7091680">
                  <a:moveTo>
                    <a:pt x="4605020" y="218440"/>
                  </a:moveTo>
                  <a:lnTo>
                    <a:pt x="4495800" y="109220"/>
                  </a:lnTo>
                  <a:lnTo>
                    <a:pt x="4605020" y="0"/>
                  </a:lnTo>
                  <a:lnTo>
                    <a:pt x="4714240" y="109220"/>
                  </a:lnTo>
                  <a:lnTo>
                    <a:pt x="4605020" y="218440"/>
                  </a:lnTo>
                  <a:close/>
                  <a:moveTo>
                    <a:pt x="218440" y="1009650"/>
                  </a:moveTo>
                  <a:lnTo>
                    <a:pt x="109220" y="900430"/>
                  </a:lnTo>
                  <a:lnTo>
                    <a:pt x="0" y="1009650"/>
                  </a:lnTo>
                  <a:lnTo>
                    <a:pt x="109220" y="1118870"/>
                  </a:lnTo>
                  <a:lnTo>
                    <a:pt x="218440" y="1009650"/>
                  </a:lnTo>
                  <a:close/>
                  <a:moveTo>
                    <a:pt x="4495800" y="4009390"/>
                  </a:moveTo>
                  <a:lnTo>
                    <a:pt x="4605020" y="4118610"/>
                  </a:lnTo>
                  <a:lnTo>
                    <a:pt x="4714240" y="4009390"/>
                  </a:lnTo>
                  <a:lnTo>
                    <a:pt x="4605020" y="3900170"/>
                  </a:lnTo>
                  <a:lnTo>
                    <a:pt x="4495800" y="4009390"/>
                  </a:lnTo>
                  <a:close/>
                  <a:moveTo>
                    <a:pt x="0" y="3117850"/>
                  </a:moveTo>
                  <a:lnTo>
                    <a:pt x="109220" y="3227070"/>
                  </a:lnTo>
                  <a:lnTo>
                    <a:pt x="218440" y="3117850"/>
                  </a:lnTo>
                  <a:lnTo>
                    <a:pt x="109220" y="3008630"/>
                  </a:lnTo>
                  <a:lnTo>
                    <a:pt x="0" y="3117850"/>
                  </a:lnTo>
                  <a:close/>
                  <a:moveTo>
                    <a:pt x="7080250" y="2063750"/>
                  </a:moveTo>
                  <a:lnTo>
                    <a:pt x="4906010" y="548640"/>
                  </a:lnTo>
                  <a:lnTo>
                    <a:pt x="4906010" y="706120"/>
                  </a:lnTo>
                  <a:lnTo>
                    <a:pt x="4906010" y="1313180"/>
                  </a:lnTo>
                  <a:lnTo>
                    <a:pt x="4298950" y="1313180"/>
                  </a:lnTo>
                  <a:lnTo>
                    <a:pt x="377190" y="1313180"/>
                  </a:lnTo>
                  <a:lnTo>
                    <a:pt x="377190" y="2816860"/>
                  </a:lnTo>
                  <a:lnTo>
                    <a:pt x="4906010" y="2816860"/>
                  </a:lnTo>
                  <a:lnTo>
                    <a:pt x="4906010" y="3423920"/>
                  </a:lnTo>
                  <a:lnTo>
                    <a:pt x="4906010" y="3580130"/>
                  </a:lnTo>
                  <a:lnTo>
                    <a:pt x="7080250" y="2063750"/>
                  </a:lnTo>
                  <a:lnTo>
                    <a:pt x="7091680" y="2063750"/>
                  </a:lnTo>
                  <a:lnTo>
                    <a:pt x="7080250" y="20637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9" id="59"/>
          <p:cNvGrpSpPr/>
          <p:nvPr/>
        </p:nvGrpSpPr>
        <p:grpSpPr>
          <a:xfrm rot="1771349">
            <a:off x="6892862" y="9700008"/>
            <a:ext cx="331800" cy="182379"/>
            <a:chOff x="0" y="0"/>
            <a:chExt cx="8195310" cy="450469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365"/>
              <a:ext cx="8195310" cy="3012075"/>
            </a:xfrm>
            <a:custGeom>
              <a:avLst/>
              <a:gdLst/>
              <a:ahLst/>
              <a:cxnLst/>
              <a:rect r="r" b="b" t="t" l="l"/>
              <a:pathLst>
                <a:path h="3012075" w="8195310">
                  <a:moveTo>
                    <a:pt x="8195310" y="2260235"/>
                  </a:moveTo>
                  <a:lnTo>
                    <a:pt x="4986020" y="51705"/>
                  </a:lnTo>
                  <a:cubicBezTo>
                    <a:pt x="4792980" y="-80375"/>
                    <a:pt x="4530090" y="55515"/>
                    <a:pt x="4528820" y="290465"/>
                  </a:cubicBezTo>
                  <a:lnTo>
                    <a:pt x="4528820" y="322215"/>
                  </a:lnTo>
                  <a:lnTo>
                    <a:pt x="4528820" y="901335"/>
                  </a:lnTo>
                  <a:lnTo>
                    <a:pt x="607060" y="901335"/>
                  </a:lnTo>
                  <a:lnTo>
                    <a:pt x="292100" y="901335"/>
                  </a:lnTo>
                  <a:cubicBezTo>
                    <a:pt x="130810" y="901335"/>
                    <a:pt x="0" y="1032145"/>
                    <a:pt x="0" y="1193435"/>
                  </a:cubicBezTo>
                  <a:lnTo>
                    <a:pt x="0" y="3012075"/>
                  </a:lnTo>
                  <a:lnTo>
                    <a:pt x="607060" y="3012075"/>
                  </a:lnTo>
                  <a:lnTo>
                    <a:pt x="607060" y="1507125"/>
                  </a:lnTo>
                  <a:lnTo>
                    <a:pt x="4528820" y="1507125"/>
                  </a:lnTo>
                  <a:lnTo>
                    <a:pt x="5135880" y="1507125"/>
                  </a:lnTo>
                  <a:lnTo>
                    <a:pt x="5135880" y="743855"/>
                  </a:lnTo>
                  <a:lnTo>
                    <a:pt x="7310120" y="2258965"/>
                  </a:lnTo>
                  <a:lnTo>
                    <a:pt x="8195310" y="2260235"/>
                  </a:lnTo>
                  <a:close/>
                </a:path>
              </a:pathLst>
            </a:custGeom>
            <a:solidFill>
              <a:srgbClr val="9FCFF9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2260600"/>
              <a:ext cx="8195310" cy="2244772"/>
            </a:xfrm>
            <a:custGeom>
              <a:avLst/>
              <a:gdLst/>
              <a:ahLst/>
              <a:cxnLst/>
              <a:rect r="r" b="b" t="t" l="l"/>
              <a:pathLst>
                <a:path h="2244772" w="8195310">
                  <a:moveTo>
                    <a:pt x="7310120" y="0"/>
                  </a:moveTo>
                  <a:lnTo>
                    <a:pt x="5135880" y="1515110"/>
                  </a:lnTo>
                  <a:lnTo>
                    <a:pt x="5135880" y="751840"/>
                  </a:lnTo>
                  <a:lnTo>
                    <a:pt x="0" y="751840"/>
                  </a:lnTo>
                  <a:lnTo>
                    <a:pt x="0" y="1358900"/>
                  </a:lnTo>
                  <a:lnTo>
                    <a:pt x="4528820" y="1358900"/>
                  </a:lnTo>
                  <a:lnTo>
                    <a:pt x="4528820" y="1938020"/>
                  </a:lnTo>
                  <a:cubicBezTo>
                    <a:pt x="4531360" y="2185670"/>
                    <a:pt x="4808220" y="2330450"/>
                    <a:pt x="5012690" y="2189480"/>
                  </a:cubicBezTo>
                  <a:lnTo>
                    <a:pt x="8195310" y="0"/>
                  </a:lnTo>
                  <a:lnTo>
                    <a:pt x="7310120" y="0"/>
                  </a:lnTo>
                  <a:close/>
                </a:path>
              </a:pathLst>
            </a:custGeom>
            <a:solidFill>
              <a:srgbClr val="0086B3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229870" y="195580"/>
              <a:ext cx="7091680" cy="4118610"/>
            </a:xfrm>
            <a:custGeom>
              <a:avLst/>
              <a:gdLst/>
              <a:ahLst/>
              <a:cxnLst/>
              <a:rect r="r" b="b" t="t" l="l"/>
              <a:pathLst>
                <a:path h="4118610" w="7091680">
                  <a:moveTo>
                    <a:pt x="4605020" y="218440"/>
                  </a:moveTo>
                  <a:lnTo>
                    <a:pt x="4495800" y="109220"/>
                  </a:lnTo>
                  <a:lnTo>
                    <a:pt x="4605020" y="0"/>
                  </a:lnTo>
                  <a:lnTo>
                    <a:pt x="4714240" y="109220"/>
                  </a:lnTo>
                  <a:lnTo>
                    <a:pt x="4605020" y="218440"/>
                  </a:lnTo>
                  <a:close/>
                  <a:moveTo>
                    <a:pt x="218440" y="1009650"/>
                  </a:moveTo>
                  <a:lnTo>
                    <a:pt x="109220" y="900430"/>
                  </a:lnTo>
                  <a:lnTo>
                    <a:pt x="0" y="1009650"/>
                  </a:lnTo>
                  <a:lnTo>
                    <a:pt x="109220" y="1118870"/>
                  </a:lnTo>
                  <a:lnTo>
                    <a:pt x="218440" y="1009650"/>
                  </a:lnTo>
                  <a:close/>
                  <a:moveTo>
                    <a:pt x="4495800" y="4009390"/>
                  </a:moveTo>
                  <a:lnTo>
                    <a:pt x="4605020" y="4118610"/>
                  </a:lnTo>
                  <a:lnTo>
                    <a:pt x="4714240" y="4009390"/>
                  </a:lnTo>
                  <a:lnTo>
                    <a:pt x="4605020" y="3900170"/>
                  </a:lnTo>
                  <a:lnTo>
                    <a:pt x="4495800" y="4009390"/>
                  </a:lnTo>
                  <a:close/>
                  <a:moveTo>
                    <a:pt x="0" y="3117850"/>
                  </a:moveTo>
                  <a:lnTo>
                    <a:pt x="109220" y="3227070"/>
                  </a:lnTo>
                  <a:lnTo>
                    <a:pt x="218440" y="3117850"/>
                  </a:lnTo>
                  <a:lnTo>
                    <a:pt x="109220" y="3008630"/>
                  </a:lnTo>
                  <a:lnTo>
                    <a:pt x="0" y="3117850"/>
                  </a:lnTo>
                  <a:close/>
                  <a:moveTo>
                    <a:pt x="7080250" y="2063750"/>
                  </a:moveTo>
                  <a:lnTo>
                    <a:pt x="4906010" y="548640"/>
                  </a:lnTo>
                  <a:lnTo>
                    <a:pt x="4906010" y="706120"/>
                  </a:lnTo>
                  <a:lnTo>
                    <a:pt x="4906010" y="1313180"/>
                  </a:lnTo>
                  <a:lnTo>
                    <a:pt x="4298950" y="1313180"/>
                  </a:lnTo>
                  <a:lnTo>
                    <a:pt x="377190" y="1313180"/>
                  </a:lnTo>
                  <a:lnTo>
                    <a:pt x="377190" y="2816860"/>
                  </a:lnTo>
                  <a:lnTo>
                    <a:pt x="4906010" y="2816860"/>
                  </a:lnTo>
                  <a:lnTo>
                    <a:pt x="4906010" y="3423920"/>
                  </a:lnTo>
                  <a:lnTo>
                    <a:pt x="4906010" y="3580130"/>
                  </a:lnTo>
                  <a:lnTo>
                    <a:pt x="7080250" y="2063750"/>
                  </a:lnTo>
                  <a:lnTo>
                    <a:pt x="7091680" y="2063750"/>
                  </a:lnTo>
                  <a:lnTo>
                    <a:pt x="7080250" y="20637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3" id="63"/>
          <p:cNvGrpSpPr/>
          <p:nvPr/>
        </p:nvGrpSpPr>
        <p:grpSpPr>
          <a:xfrm rot="-5400000">
            <a:off x="7264504" y="2964950"/>
            <a:ext cx="628853" cy="6776937"/>
            <a:chOff x="0" y="0"/>
            <a:chExt cx="558532" cy="601911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58532" cy="6019110"/>
            </a:xfrm>
            <a:custGeom>
              <a:avLst/>
              <a:gdLst/>
              <a:ahLst/>
              <a:cxnLst/>
              <a:rect r="r" b="b" t="t" l="l"/>
              <a:pathLst>
                <a:path h="6019110" w="558532">
                  <a:moveTo>
                    <a:pt x="279266" y="6019110"/>
                  </a:moveTo>
                  <a:lnTo>
                    <a:pt x="0" y="5612710"/>
                  </a:lnTo>
                  <a:lnTo>
                    <a:pt x="203200" y="5612710"/>
                  </a:lnTo>
                  <a:lnTo>
                    <a:pt x="203200" y="0"/>
                  </a:lnTo>
                  <a:lnTo>
                    <a:pt x="355332" y="0"/>
                  </a:lnTo>
                  <a:lnTo>
                    <a:pt x="355332" y="5612710"/>
                  </a:lnTo>
                  <a:lnTo>
                    <a:pt x="558532" y="5612710"/>
                  </a:lnTo>
                  <a:lnTo>
                    <a:pt x="279266" y="6019110"/>
                  </a:lnTo>
                  <a:close/>
                </a:path>
              </a:pathLst>
            </a:custGeom>
            <a:solidFill>
              <a:srgbClr val="0086B3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203200" y="-66675"/>
              <a:ext cx="152132" cy="59841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-5400000">
            <a:off x="8027231" y="5281638"/>
            <a:ext cx="628853" cy="5251483"/>
            <a:chOff x="0" y="0"/>
            <a:chExt cx="558532" cy="4664239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58532" cy="4664239"/>
            </a:xfrm>
            <a:custGeom>
              <a:avLst/>
              <a:gdLst/>
              <a:ahLst/>
              <a:cxnLst/>
              <a:rect r="r" b="b" t="t" l="l"/>
              <a:pathLst>
                <a:path h="4664239" w="558532">
                  <a:moveTo>
                    <a:pt x="279266" y="4664239"/>
                  </a:moveTo>
                  <a:lnTo>
                    <a:pt x="0" y="4257839"/>
                  </a:lnTo>
                  <a:lnTo>
                    <a:pt x="203200" y="4257839"/>
                  </a:lnTo>
                  <a:lnTo>
                    <a:pt x="203200" y="0"/>
                  </a:lnTo>
                  <a:lnTo>
                    <a:pt x="355332" y="0"/>
                  </a:lnTo>
                  <a:lnTo>
                    <a:pt x="355332" y="4257839"/>
                  </a:lnTo>
                  <a:lnTo>
                    <a:pt x="558532" y="4257839"/>
                  </a:lnTo>
                  <a:lnTo>
                    <a:pt x="279266" y="4664239"/>
                  </a:lnTo>
                  <a:close/>
                </a:path>
              </a:pathLst>
            </a:custGeom>
            <a:solidFill>
              <a:srgbClr val="0086B3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203200" y="-66675"/>
              <a:ext cx="152132" cy="4629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69" id="69"/>
          <p:cNvGrpSpPr/>
          <p:nvPr/>
        </p:nvGrpSpPr>
        <p:grpSpPr>
          <a:xfrm rot="-5400000">
            <a:off x="8891600" y="7706819"/>
            <a:ext cx="628853" cy="3522744"/>
            <a:chOff x="0" y="0"/>
            <a:chExt cx="558532" cy="312881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58532" cy="3128816"/>
            </a:xfrm>
            <a:custGeom>
              <a:avLst/>
              <a:gdLst/>
              <a:ahLst/>
              <a:cxnLst/>
              <a:rect r="r" b="b" t="t" l="l"/>
              <a:pathLst>
                <a:path h="3128816" w="558532">
                  <a:moveTo>
                    <a:pt x="279266" y="3128816"/>
                  </a:moveTo>
                  <a:lnTo>
                    <a:pt x="0" y="2722416"/>
                  </a:lnTo>
                  <a:lnTo>
                    <a:pt x="203200" y="2722416"/>
                  </a:lnTo>
                  <a:lnTo>
                    <a:pt x="203200" y="0"/>
                  </a:lnTo>
                  <a:lnTo>
                    <a:pt x="355332" y="0"/>
                  </a:lnTo>
                  <a:lnTo>
                    <a:pt x="355332" y="2722416"/>
                  </a:lnTo>
                  <a:lnTo>
                    <a:pt x="558532" y="2722416"/>
                  </a:lnTo>
                  <a:lnTo>
                    <a:pt x="279266" y="3128816"/>
                  </a:lnTo>
                  <a:close/>
                </a:path>
              </a:pathLst>
            </a:custGeom>
            <a:solidFill>
              <a:srgbClr val="0086B3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203200" y="-66675"/>
              <a:ext cx="152132" cy="3093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sp>
        <p:nvSpPr>
          <p:cNvPr name="TextBox 72" id="72"/>
          <p:cNvSpPr txBox="true"/>
          <p:nvPr/>
        </p:nvSpPr>
        <p:spPr>
          <a:xfrm rot="0">
            <a:off x="6587652" y="5988468"/>
            <a:ext cx="1441336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9"/>
              </a:lnSpc>
            </a:pPr>
            <a:r>
              <a:rPr lang="en-US" b="true" sz="1824" spc="18">
                <a:solidFill>
                  <a:srgbClr val="0086B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PROFIL TYPE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11186474" y="5876138"/>
            <a:ext cx="6985209" cy="950812"/>
            <a:chOff x="0" y="0"/>
            <a:chExt cx="1839726" cy="2504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839726" cy="250420"/>
            </a:xfrm>
            <a:custGeom>
              <a:avLst/>
              <a:gdLst/>
              <a:ahLst/>
              <a:cxnLst/>
              <a:rect r="r" b="b" t="t" l="l"/>
              <a:pathLst>
                <a:path h="250420" w="1839726">
                  <a:moveTo>
                    <a:pt x="11083" y="0"/>
                  </a:moveTo>
                  <a:lnTo>
                    <a:pt x="1828643" y="0"/>
                  </a:lnTo>
                  <a:cubicBezTo>
                    <a:pt x="1831582" y="0"/>
                    <a:pt x="1834401" y="1168"/>
                    <a:pt x="1836480" y="3246"/>
                  </a:cubicBezTo>
                  <a:cubicBezTo>
                    <a:pt x="1838558" y="5325"/>
                    <a:pt x="1839726" y="8144"/>
                    <a:pt x="1839726" y="11083"/>
                  </a:cubicBezTo>
                  <a:lnTo>
                    <a:pt x="1839726" y="239336"/>
                  </a:lnTo>
                  <a:cubicBezTo>
                    <a:pt x="1839726" y="242276"/>
                    <a:pt x="1838558" y="245095"/>
                    <a:pt x="1836480" y="247173"/>
                  </a:cubicBezTo>
                  <a:cubicBezTo>
                    <a:pt x="1834401" y="249252"/>
                    <a:pt x="1831582" y="250420"/>
                    <a:pt x="1828643" y="250420"/>
                  </a:cubicBezTo>
                  <a:lnTo>
                    <a:pt x="11083" y="250420"/>
                  </a:lnTo>
                  <a:cubicBezTo>
                    <a:pt x="8144" y="250420"/>
                    <a:pt x="5325" y="249252"/>
                    <a:pt x="3246" y="247173"/>
                  </a:cubicBezTo>
                  <a:cubicBezTo>
                    <a:pt x="1168" y="245095"/>
                    <a:pt x="0" y="242276"/>
                    <a:pt x="0" y="239336"/>
                  </a:cubicBezTo>
                  <a:lnTo>
                    <a:pt x="0" y="11083"/>
                  </a:lnTo>
                  <a:cubicBezTo>
                    <a:pt x="0" y="8144"/>
                    <a:pt x="1168" y="5325"/>
                    <a:pt x="3246" y="3246"/>
                  </a:cubicBezTo>
                  <a:cubicBezTo>
                    <a:pt x="5325" y="1168"/>
                    <a:pt x="8144" y="0"/>
                    <a:pt x="11083" y="0"/>
                  </a:cubicBezTo>
                  <a:close/>
                </a:path>
              </a:pathLst>
            </a:custGeom>
            <a:solidFill>
              <a:srgbClr val="9FCFF9"/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1839726" cy="288520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080"/>
                </a:lnSpc>
              </a:pPr>
              <a:r>
                <a:rPr lang="en-US" sz="2200" spc="22">
                  <a:solidFill>
                    <a:srgbClr val="1F294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Occasionnels réguliers</a:t>
              </a: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7444655" y="7563195"/>
            <a:ext cx="1441336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9"/>
              </a:lnSpc>
            </a:pPr>
            <a:r>
              <a:rPr lang="en-US" b="true" sz="1824" spc="18">
                <a:solidFill>
                  <a:srgbClr val="0086B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PROFIL TYPE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8341658" y="9120188"/>
            <a:ext cx="1441336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9"/>
              </a:lnSpc>
            </a:pPr>
            <a:r>
              <a:rPr lang="en-US" b="true" sz="1824" spc="18">
                <a:solidFill>
                  <a:srgbClr val="0086B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PROFIL TYPE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11186474" y="7441315"/>
            <a:ext cx="6985209" cy="943958"/>
            <a:chOff x="0" y="0"/>
            <a:chExt cx="1839726" cy="248615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839726" cy="248615"/>
            </a:xfrm>
            <a:custGeom>
              <a:avLst/>
              <a:gdLst/>
              <a:ahLst/>
              <a:cxnLst/>
              <a:rect r="r" b="b" t="t" l="l"/>
              <a:pathLst>
                <a:path h="248615" w="1839726">
                  <a:moveTo>
                    <a:pt x="11083" y="0"/>
                  </a:moveTo>
                  <a:lnTo>
                    <a:pt x="1828643" y="0"/>
                  </a:lnTo>
                  <a:cubicBezTo>
                    <a:pt x="1831582" y="0"/>
                    <a:pt x="1834401" y="1168"/>
                    <a:pt x="1836480" y="3246"/>
                  </a:cubicBezTo>
                  <a:cubicBezTo>
                    <a:pt x="1838558" y="5325"/>
                    <a:pt x="1839726" y="8144"/>
                    <a:pt x="1839726" y="11083"/>
                  </a:cubicBezTo>
                  <a:lnTo>
                    <a:pt x="1839726" y="237531"/>
                  </a:lnTo>
                  <a:cubicBezTo>
                    <a:pt x="1839726" y="240471"/>
                    <a:pt x="1838558" y="243290"/>
                    <a:pt x="1836480" y="245368"/>
                  </a:cubicBezTo>
                  <a:cubicBezTo>
                    <a:pt x="1834401" y="247447"/>
                    <a:pt x="1831582" y="248615"/>
                    <a:pt x="1828643" y="248615"/>
                  </a:cubicBezTo>
                  <a:lnTo>
                    <a:pt x="11083" y="248615"/>
                  </a:lnTo>
                  <a:cubicBezTo>
                    <a:pt x="8144" y="248615"/>
                    <a:pt x="5325" y="247447"/>
                    <a:pt x="3246" y="245368"/>
                  </a:cubicBezTo>
                  <a:cubicBezTo>
                    <a:pt x="1168" y="243290"/>
                    <a:pt x="0" y="240471"/>
                    <a:pt x="0" y="237531"/>
                  </a:cubicBezTo>
                  <a:lnTo>
                    <a:pt x="0" y="11083"/>
                  </a:lnTo>
                  <a:cubicBezTo>
                    <a:pt x="0" y="8144"/>
                    <a:pt x="1168" y="5325"/>
                    <a:pt x="3246" y="3246"/>
                  </a:cubicBezTo>
                  <a:cubicBezTo>
                    <a:pt x="5325" y="1168"/>
                    <a:pt x="8144" y="0"/>
                    <a:pt x="11083" y="0"/>
                  </a:cubicBezTo>
                  <a:close/>
                </a:path>
              </a:pathLst>
            </a:custGeom>
            <a:solidFill>
              <a:srgbClr val="9FCFF9"/>
            </a:solid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1839726" cy="286715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080"/>
                </a:lnSpc>
              </a:pPr>
              <a:r>
                <a:rPr lang="en-US" sz="2200" spc="22">
                  <a:solidFill>
                    <a:srgbClr val="1F294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Gr</a:t>
              </a:r>
              <a:r>
                <a:rPr lang="en-US" sz="2200" spc="22">
                  <a:solidFill>
                    <a:srgbClr val="1F294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os clients / VIP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1186474" y="8992785"/>
            <a:ext cx="6985209" cy="943958"/>
            <a:chOff x="0" y="0"/>
            <a:chExt cx="1839726" cy="248615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839726" cy="248615"/>
            </a:xfrm>
            <a:custGeom>
              <a:avLst/>
              <a:gdLst/>
              <a:ahLst/>
              <a:cxnLst/>
              <a:rect r="r" b="b" t="t" l="l"/>
              <a:pathLst>
                <a:path h="248615" w="1839726">
                  <a:moveTo>
                    <a:pt x="11083" y="0"/>
                  </a:moveTo>
                  <a:lnTo>
                    <a:pt x="1828643" y="0"/>
                  </a:lnTo>
                  <a:cubicBezTo>
                    <a:pt x="1831582" y="0"/>
                    <a:pt x="1834401" y="1168"/>
                    <a:pt x="1836480" y="3246"/>
                  </a:cubicBezTo>
                  <a:cubicBezTo>
                    <a:pt x="1838558" y="5325"/>
                    <a:pt x="1839726" y="8144"/>
                    <a:pt x="1839726" y="11083"/>
                  </a:cubicBezTo>
                  <a:lnTo>
                    <a:pt x="1839726" y="237531"/>
                  </a:lnTo>
                  <a:cubicBezTo>
                    <a:pt x="1839726" y="240471"/>
                    <a:pt x="1838558" y="243290"/>
                    <a:pt x="1836480" y="245368"/>
                  </a:cubicBezTo>
                  <a:cubicBezTo>
                    <a:pt x="1834401" y="247447"/>
                    <a:pt x="1831582" y="248615"/>
                    <a:pt x="1828643" y="248615"/>
                  </a:cubicBezTo>
                  <a:lnTo>
                    <a:pt x="11083" y="248615"/>
                  </a:lnTo>
                  <a:cubicBezTo>
                    <a:pt x="8144" y="248615"/>
                    <a:pt x="5325" y="247447"/>
                    <a:pt x="3246" y="245368"/>
                  </a:cubicBezTo>
                  <a:cubicBezTo>
                    <a:pt x="1168" y="243290"/>
                    <a:pt x="0" y="240471"/>
                    <a:pt x="0" y="237531"/>
                  </a:cubicBezTo>
                  <a:lnTo>
                    <a:pt x="0" y="11083"/>
                  </a:lnTo>
                  <a:cubicBezTo>
                    <a:pt x="0" y="8144"/>
                    <a:pt x="1168" y="5325"/>
                    <a:pt x="3246" y="3246"/>
                  </a:cubicBezTo>
                  <a:cubicBezTo>
                    <a:pt x="5325" y="1168"/>
                    <a:pt x="8144" y="0"/>
                    <a:pt x="11083" y="0"/>
                  </a:cubicBezTo>
                  <a:close/>
                </a:path>
              </a:pathLst>
            </a:custGeom>
            <a:solidFill>
              <a:srgbClr val="9FCFF9"/>
            </a:solid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1839726" cy="286715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080"/>
                </a:lnSpc>
              </a:pPr>
              <a:r>
                <a:rPr lang="en-US" sz="2200" spc="22">
                  <a:solidFill>
                    <a:srgbClr val="1F294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Clients inactifs / à risque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201469">
            <a:off x="-1165980" y="7429873"/>
            <a:ext cx="4389359" cy="4373398"/>
          </a:xfrm>
          <a:custGeom>
            <a:avLst/>
            <a:gdLst/>
            <a:ahLst/>
            <a:cxnLst/>
            <a:rect r="r" b="b" t="t" l="l"/>
            <a:pathLst>
              <a:path h="4373398" w="4389359">
                <a:moveTo>
                  <a:pt x="0" y="0"/>
                </a:moveTo>
                <a:lnTo>
                  <a:pt x="4389360" y="0"/>
                </a:lnTo>
                <a:lnTo>
                  <a:pt x="4389360" y="4373398"/>
                </a:lnTo>
                <a:lnTo>
                  <a:pt x="0" y="4373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089119">
            <a:off x="991678" y="9138498"/>
            <a:ext cx="3484112" cy="2787289"/>
          </a:xfrm>
          <a:custGeom>
            <a:avLst/>
            <a:gdLst/>
            <a:ahLst/>
            <a:cxnLst/>
            <a:rect r="r" b="b" t="t" l="l"/>
            <a:pathLst>
              <a:path h="2787289" w="3484112">
                <a:moveTo>
                  <a:pt x="0" y="0"/>
                </a:moveTo>
                <a:lnTo>
                  <a:pt x="3484112" y="0"/>
                </a:lnTo>
                <a:lnTo>
                  <a:pt x="3484112" y="2787289"/>
                </a:lnTo>
                <a:lnTo>
                  <a:pt x="0" y="2787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026593">
            <a:off x="15481612" y="-521355"/>
            <a:ext cx="3555375" cy="4205283"/>
          </a:xfrm>
          <a:custGeom>
            <a:avLst/>
            <a:gdLst/>
            <a:ahLst/>
            <a:cxnLst/>
            <a:rect r="r" b="b" t="t" l="l"/>
            <a:pathLst>
              <a:path h="4205283" w="3555375">
                <a:moveTo>
                  <a:pt x="0" y="0"/>
                </a:moveTo>
                <a:lnTo>
                  <a:pt x="3555376" y="0"/>
                </a:lnTo>
                <a:lnTo>
                  <a:pt x="3555376" y="4205282"/>
                </a:lnTo>
                <a:lnTo>
                  <a:pt x="0" y="42052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2827656">
            <a:off x="14119950" y="-1318357"/>
            <a:ext cx="3484112" cy="2787289"/>
          </a:xfrm>
          <a:custGeom>
            <a:avLst/>
            <a:gdLst/>
            <a:ahLst/>
            <a:cxnLst/>
            <a:rect r="r" b="b" t="t" l="l"/>
            <a:pathLst>
              <a:path h="2787289" w="3484112">
                <a:moveTo>
                  <a:pt x="3484112" y="2787289"/>
                </a:moveTo>
                <a:lnTo>
                  <a:pt x="0" y="2787289"/>
                </a:lnTo>
                <a:lnTo>
                  <a:pt x="0" y="0"/>
                </a:lnTo>
                <a:lnTo>
                  <a:pt x="3484112" y="0"/>
                </a:lnTo>
                <a:lnTo>
                  <a:pt x="3484112" y="278728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6" id="6">
            <a:hlinkClick action="ppaction://media"/>
          </p:cNvPr>
          <p:cNvPicPr>
            <a:picLocks noChangeAspect="true"/>
          </p:cNvPicPr>
          <p:nvPr>
            <a:videoFile r:link="rId11"/>
            <p:extLst>
              <p:ext uri="{DAA4B4D4-6D71-4841-9C94-3DE7FCFB9230}">
                <p14:media xmlns:p14="http://schemas.microsoft.com/office/powerpoint/2010/main" r:embed="rId12"/>
              </p:ext>
            </p:extLst>
          </p:nvPr>
        </p:nvPicPr>
        <p:blipFill>
          <a:blip r:embed="rId10"/>
          <a:srcRect l="986" t="9699" r="3501" b="0"/>
          <a:stretch>
            <a:fillRect/>
          </a:stretch>
        </p:blipFill>
        <p:spPr>
          <a:xfrm flipH="false" flipV="false" rot="0">
            <a:off x="0" y="2970606"/>
            <a:ext cx="18398062" cy="7316394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028700" y="465205"/>
            <a:ext cx="13215259" cy="165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b="true" sz="6399" spc="63">
                <a:solidFill>
                  <a:srgbClr val="0086B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# 4. MODÉLISATION SUPERVISÉE — RANDOM FORREST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63247" y="1514792"/>
            <a:ext cx="7824753" cy="6063829"/>
          </a:xfrm>
          <a:custGeom>
            <a:avLst/>
            <a:gdLst/>
            <a:ahLst/>
            <a:cxnLst/>
            <a:rect r="r" b="b" t="t" l="l"/>
            <a:pathLst>
              <a:path h="6063829" w="7824753">
                <a:moveTo>
                  <a:pt x="0" y="0"/>
                </a:moveTo>
                <a:lnTo>
                  <a:pt x="7824753" y="0"/>
                </a:lnTo>
                <a:lnTo>
                  <a:pt x="7824753" y="6063829"/>
                </a:lnTo>
                <a:lnTo>
                  <a:pt x="0" y="60638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52525"/>
            <a:ext cx="8778629" cy="848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b="true" sz="6399" spc="63">
                <a:solidFill>
                  <a:srgbClr val="0086B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ETAPES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356229"/>
            <a:ext cx="811530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 spc="27">
                <a:solidFill>
                  <a:srgbClr val="0086B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VARIABLE CIBLE (LABEL)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031047"/>
            <a:ext cx="8115300" cy="852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9"/>
              </a:lnSpc>
            </a:pPr>
            <a:r>
              <a:rPr lang="en-US" sz="2599" b="true">
                <a:solidFill>
                  <a:srgbClr val="1F294C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Médiane</a:t>
            </a:r>
            <a:r>
              <a:rPr lang="en-US" sz="2599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 du Monetary comme seuil pour créer une classification équilibrée entre </a:t>
            </a:r>
            <a:r>
              <a:rPr lang="en-US" sz="2599" b="true">
                <a:solidFill>
                  <a:srgbClr val="1F294C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Gros</a:t>
            </a:r>
            <a:r>
              <a:rPr lang="en-US" sz="2599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 et </a:t>
            </a:r>
            <a:r>
              <a:rPr lang="en-US" sz="2599" b="true">
                <a:solidFill>
                  <a:srgbClr val="1F294C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Petits</a:t>
            </a:r>
            <a:r>
              <a:rPr lang="en-US" sz="2599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 dépensiers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322397"/>
            <a:ext cx="81153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 spc="27">
                <a:solidFill>
                  <a:srgbClr val="0086B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FEATURES SUPPLEMENTAIRES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914015"/>
            <a:ext cx="11040551" cy="3853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9"/>
              </a:lnSpc>
            </a:pPr>
          </a:p>
          <a:p>
            <a:pPr algn="l" marL="561339" indent="-280669" lvl="1">
              <a:lnSpc>
                <a:spcPts val="3379"/>
              </a:lnSpc>
              <a:buFont typeface="Arial"/>
              <a:buChar char="•"/>
            </a:pPr>
            <a:r>
              <a:rPr lang="en-US" sz="2599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Recency : jours depuis le dernier achat</a:t>
            </a:r>
          </a:p>
          <a:p>
            <a:pPr algn="l" marL="561339" indent="-280669" lvl="1">
              <a:lnSpc>
                <a:spcPts val="3379"/>
              </a:lnSpc>
              <a:buFont typeface="Arial"/>
              <a:buChar char="•"/>
            </a:pPr>
            <a:r>
              <a:rPr lang="en-US" sz="2599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Frequency : nombre de commandes</a:t>
            </a:r>
          </a:p>
          <a:p>
            <a:pPr algn="l" marL="561339" indent="-280669" lvl="1">
              <a:lnSpc>
                <a:spcPts val="3379"/>
              </a:lnSpc>
              <a:buFont typeface="Arial"/>
              <a:buChar char="•"/>
            </a:pPr>
            <a:r>
              <a:rPr lang="en-US" sz="2599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AvgUnitPrice : prix unitaire moyen des articles achetés</a:t>
            </a:r>
          </a:p>
          <a:p>
            <a:pPr algn="l" marL="561339" indent="-280669" lvl="1">
              <a:lnSpc>
                <a:spcPts val="3379"/>
              </a:lnSpc>
              <a:buFont typeface="Arial"/>
              <a:buChar char="•"/>
            </a:pPr>
            <a:r>
              <a:rPr lang="en-US" sz="2599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UniqueProducts : nombre de produits distincts achetés</a:t>
            </a:r>
          </a:p>
          <a:p>
            <a:pPr algn="l" marL="561339" indent="-280669" lvl="1">
              <a:lnSpc>
                <a:spcPts val="3379"/>
              </a:lnSpc>
              <a:buFont typeface="Arial"/>
              <a:buChar char="•"/>
            </a:pPr>
            <a:r>
              <a:rPr lang="en-US" sz="2599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PurchaseSpan : durée entre le premier et le dernier achat</a:t>
            </a:r>
          </a:p>
          <a:p>
            <a:pPr algn="l" marL="561339" indent="-280669" lvl="1">
              <a:lnSpc>
                <a:spcPts val="3379"/>
              </a:lnSpc>
              <a:buFont typeface="Arial"/>
              <a:buChar char="•"/>
            </a:pPr>
            <a:r>
              <a:rPr lang="en-US" sz="2599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OrderFrequencyRate : intensité d'achat (commandes par jour actif)</a:t>
            </a:r>
          </a:p>
          <a:p>
            <a:pPr algn="l" marL="561339" indent="-280669" lvl="1">
              <a:lnSpc>
                <a:spcPts val="3379"/>
              </a:lnSpc>
              <a:buFont typeface="Arial"/>
              <a:buChar char="•"/>
            </a:pPr>
            <a:r>
              <a:rPr lang="en-US" sz="2599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CountryIndex : pays du client (encodé)</a:t>
            </a:r>
          </a:p>
          <a:p>
            <a:pPr algn="l">
              <a:lnSpc>
                <a:spcPts val="3379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10123381">
            <a:off x="15488782" y="-651472"/>
            <a:ext cx="3980134" cy="4114800"/>
          </a:xfrm>
          <a:custGeom>
            <a:avLst/>
            <a:gdLst/>
            <a:ahLst/>
            <a:cxnLst/>
            <a:rect r="r" b="b" t="t" l="l"/>
            <a:pathLst>
              <a:path h="4114800" w="3980134">
                <a:moveTo>
                  <a:pt x="0" y="0"/>
                </a:moveTo>
                <a:lnTo>
                  <a:pt x="3980134" y="0"/>
                </a:lnTo>
                <a:lnTo>
                  <a:pt x="39801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395011">
            <a:off x="13614410" y="-1236110"/>
            <a:ext cx="2725288" cy="3620552"/>
          </a:xfrm>
          <a:custGeom>
            <a:avLst/>
            <a:gdLst/>
            <a:ahLst/>
            <a:cxnLst/>
            <a:rect r="r" b="b" t="t" l="l"/>
            <a:pathLst>
              <a:path h="3620552" w="2725288">
                <a:moveTo>
                  <a:pt x="0" y="0"/>
                </a:moveTo>
                <a:lnTo>
                  <a:pt x="2725289" y="0"/>
                </a:lnTo>
                <a:lnTo>
                  <a:pt x="2725289" y="3620552"/>
                </a:lnTo>
                <a:lnTo>
                  <a:pt x="0" y="36205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596961">
            <a:off x="-1406027" y="6806086"/>
            <a:ext cx="4389359" cy="4373398"/>
          </a:xfrm>
          <a:custGeom>
            <a:avLst/>
            <a:gdLst/>
            <a:ahLst/>
            <a:cxnLst/>
            <a:rect r="r" b="b" t="t" l="l"/>
            <a:pathLst>
              <a:path h="4373398" w="4389359">
                <a:moveTo>
                  <a:pt x="0" y="0"/>
                </a:moveTo>
                <a:lnTo>
                  <a:pt x="4389359" y="0"/>
                </a:lnTo>
                <a:lnTo>
                  <a:pt x="4389359" y="4373398"/>
                </a:lnTo>
                <a:lnTo>
                  <a:pt x="0" y="4373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201367">
            <a:off x="557077" y="8324231"/>
            <a:ext cx="3625255" cy="4816160"/>
          </a:xfrm>
          <a:custGeom>
            <a:avLst/>
            <a:gdLst/>
            <a:ahLst/>
            <a:cxnLst/>
            <a:rect r="r" b="b" t="t" l="l"/>
            <a:pathLst>
              <a:path h="4816160" w="3625255">
                <a:moveTo>
                  <a:pt x="0" y="0"/>
                </a:moveTo>
                <a:lnTo>
                  <a:pt x="3625255" y="0"/>
                </a:lnTo>
                <a:lnTo>
                  <a:pt x="3625255" y="4816160"/>
                </a:lnTo>
                <a:lnTo>
                  <a:pt x="0" y="48161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123381">
            <a:off x="15488782" y="-651472"/>
            <a:ext cx="3980134" cy="4114800"/>
          </a:xfrm>
          <a:custGeom>
            <a:avLst/>
            <a:gdLst/>
            <a:ahLst/>
            <a:cxnLst/>
            <a:rect r="r" b="b" t="t" l="l"/>
            <a:pathLst>
              <a:path h="4114800" w="3980134">
                <a:moveTo>
                  <a:pt x="0" y="0"/>
                </a:moveTo>
                <a:lnTo>
                  <a:pt x="3980134" y="0"/>
                </a:lnTo>
                <a:lnTo>
                  <a:pt x="39801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395011">
            <a:off x="13614410" y="-1236110"/>
            <a:ext cx="2725288" cy="3620552"/>
          </a:xfrm>
          <a:custGeom>
            <a:avLst/>
            <a:gdLst/>
            <a:ahLst/>
            <a:cxnLst/>
            <a:rect r="r" b="b" t="t" l="l"/>
            <a:pathLst>
              <a:path h="3620552" w="2725288">
                <a:moveTo>
                  <a:pt x="0" y="0"/>
                </a:moveTo>
                <a:lnTo>
                  <a:pt x="2725289" y="0"/>
                </a:lnTo>
                <a:lnTo>
                  <a:pt x="2725289" y="3620552"/>
                </a:lnTo>
                <a:lnTo>
                  <a:pt x="0" y="36205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649803" y="1028700"/>
            <a:ext cx="10244543" cy="8980011"/>
          </a:xfrm>
          <a:custGeom>
            <a:avLst/>
            <a:gdLst/>
            <a:ahLst/>
            <a:cxnLst/>
            <a:rect r="r" b="b" t="t" l="l"/>
            <a:pathLst>
              <a:path h="8980011" w="10244543">
                <a:moveTo>
                  <a:pt x="0" y="0"/>
                </a:moveTo>
                <a:lnTo>
                  <a:pt x="10244543" y="0"/>
                </a:lnTo>
                <a:lnTo>
                  <a:pt x="10244543" y="8980011"/>
                </a:lnTo>
                <a:lnTo>
                  <a:pt x="0" y="89800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152525"/>
            <a:ext cx="8778629" cy="848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b="true" sz="6399" spc="63">
                <a:solidFill>
                  <a:srgbClr val="0086B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RÉSULTATS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74963" y="2565779"/>
            <a:ext cx="81153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 spc="27">
                <a:solidFill>
                  <a:srgbClr val="0086B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SCORES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4963" y="3388588"/>
            <a:ext cx="8115300" cy="171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9"/>
              </a:lnSpc>
            </a:pPr>
            <a:r>
              <a:rPr lang="en-US" sz="2599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Accuracy : 0.8776 </a:t>
            </a:r>
          </a:p>
          <a:p>
            <a:pPr algn="l">
              <a:lnSpc>
                <a:spcPts val="3379"/>
              </a:lnSpc>
            </a:pPr>
            <a:r>
              <a:rPr lang="en-US" sz="2599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Precision : 0.8777 </a:t>
            </a:r>
          </a:p>
          <a:p>
            <a:pPr algn="l">
              <a:lnSpc>
                <a:spcPts val="3379"/>
              </a:lnSpc>
            </a:pPr>
            <a:r>
              <a:rPr lang="en-US" sz="2599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Recall : 0.8776 </a:t>
            </a:r>
          </a:p>
          <a:p>
            <a:pPr algn="l">
              <a:lnSpc>
                <a:spcPts val="3379"/>
              </a:lnSpc>
            </a:pPr>
            <a:r>
              <a:rPr lang="en-US" sz="2599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F1-Score : 0.8776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660618"/>
            <a:ext cx="81153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 spc="27">
                <a:solidFill>
                  <a:srgbClr val="0086B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FEATURES IMPORTANTS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322969"/>
            <a:ext cx="8115300" cy="1281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9"/>
              </a:lnSpc>
            </a:pPr>
            <a:r>
              <a:rPr lang="en-US" sz="2599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Frequency (0.46), </a:t>
            </a:r>
          </a:p>
          <a:p>
            <a:pPr algn="l">
              <a:lnSpc>
                <a:spcPts val="3379"/>
              </a:lnSpc>
            </a:pPr>
            <a:r>
              <a:rPr lang="en-US" sz="2599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Unique Products (0.232), </a:t>
            </a:r>
          </a:p>
          <a:p>
            <a:pPr algn="l">
              <a:lnSpc>
                <a:spcPts val="3379"/>
              </a:lnSpc>
            </a:pPr>
            <a:r>
              <a:rPr lang="en-US" sz="2599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OrderFrequencyRate (0.182).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80442" y="659698"/>
            <a:ext cx="9799769" cy="1310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7"/>
              </a:lnSpc>
            </a:pPr>
            <a:r>
              <a:rPr lang="en-US" b="true" sz="4314" spc="43">
                <a:solidFill>
                  <a:srgbClr val="0086B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RECOMMANDATIONS POUR L'ENTREPRISE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01650" y="2933947"/>
            <a:ext cx="5064168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b="true" sz="2600" spc="26">
                <a:solidFill>
                  <a:srgbClr val="0086B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SUR LA BASE DE LA SEGMENTATION :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5358855" y="2943472"/>
            <a:ext cx="4066928" cy="3582594"/>
            <a:chOff x="0" y="0"/>
            <a:chExt cx="1071125" cy="9435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1125" cy="943564"/>
            </a:xfrm>
            <a:custGeom>
              <a:avLst/>
              <a:gdLst/>
              <a:ahLst/>
              <a:cxnLst/>
              <a:rect r="r" b="b" t="t" l="l"/>
              <a:pathLst>
                <a:path h="943564" w="1071125">
                  <a:moveTo>
                    <a:pt x="19036" y="0"/>
                  </a:moveTo>
                  <a:lnTo>
                    <a:pt x="1052089" y="0"/>
                  </a:lnTo>
                  <a:cubicBezTo>
                    <a:pt x="1057138" y="0"/>
                    <a:pt x="1061980" y="2006"/>
                    <a:pt x="1065549" y="5576"/>
                  </a:cubicBezTo>
                  <a:cubicBezTo>
                    <a:pt x="1069120" y="9146"/>
                    <a:pt x="1071125" y="13988"/>
                    <a:pt x="1071125" y="19036"/>
                  </a:cubicBezTo>
                  <a:lnTo>
                    <a:pt x="1071125" y="924528"/>
                  </a:lnTo>
                  <a:cubicBezTo>
                    <a:pt x="1071125" y="929576"/>
                    <a:pt x="1069120" y="934418"/>
                    <a:pt x="1065549" y="937988"/>
                  </a:cubicBezTo>
                  <a:cubicBezTo>
                    <a:pt x="1061980" y="941558"/>
                    <a:pt x="1057138" y="943564"/>
                    <a:pt x="1052089" y="943564"/>
                  </a:cubicBezTo>
                  <a:lnTo>
                    <a:pt x="19036" y="943564"/>
                  </a:lnTo>
                  <a:cubicBezTo>
                    <a:pt x="13988" y="943564"/>
                    <a:pt x="9146" y="941558"/>
                    <a:pt x="5576" y="937988"/>
                  </a:cubicBezTo>
                  <a:cubicBezTo>
                    <a:pt x="2006" y="934418"/>
                    <a:pt x="0" y="929576"/>
                    <a:pt x="0" y="924528"/>
                  </a:cubicBezTo>
                  <a:lnTo>
                    <a:pt x="0" y="19036"/>
                  </a:lnTo>
                  <a:cubicBezTo>
                    <a:pt x="0" y="13988"/>
                    <a:pt x="2006" y="9146"/>
                    <a:pt x="5576" y="5576"/>
                  </a:cubicBezTo>
                  <a:cubicBezTo>
                    <a:pt x="9146" y="2006"/>
                    <a:pt x="13988" y="0"/>
                    <a:pt x="19036" y="0"/>
                  </a:cubicBezTo>
                  <a:close/>
                </a:path>
              </a:pathLst>
            </a:custGeom>
            <a:solidFill>
              <a:srgbClr val="9FCFF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71125" cy="981664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080"/>
                </a:lnSpc>
              </a:pPr>
              <a:r>
                <a:rPr lang="en-US" b="true" sz="2200" spc="22">
                  <a:solidFill>
                    <a:srgbClr val="1F294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Cluster 1 — VIP (25 clients) :</a:t>
              </a:r>
            </a:p>
            <a:p>
              <a:pPr algn="ctr">
                <a:lnSpc>
                  <a:spcPts val="3080"/>
                </a:lnSpc>
              </a:pPr>
              <a:r>
                <a:rPr lang="en-US" sz="2200" spc="22">
                  <a:solidFill>
                    <a:srgbClr val="1F294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Priorité à la rétention : programme fidélité premium.Toute perte ici a un impact financier majeur.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521033" y="2943472"/>
            <a:ext cx="4147265" cy="3582594"/>
            <a:chOff x="0" y="0"/>
            <a:chExt cx="1092284" cy="94356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2284" cy="943564"/>
            </a:xfrm>
            <a:custGeom>
              <a:avLst/>
              <a:gdLst/>
              <a:ahLst/>
              <a:cxnLst/>
              <a:rect r="r" b="b" t="t" l="l"/>
              <a:pathLst>
                <a:path h="943564" w="1092284">
                  <a:moveTo>
                    <a:pt x="18668" y="0"/>
                  </a:moveTo>
                  <a:lnTo>
                    <a:pt x="1073616" y="0"/>
                  </a:lnTo>
                  <a:cubicBezTo>
                    <a:pt x="1078567" y="0"/>
                    <a:pt x="1083315" y="1967"/>
                    <a:pt x="1086816" y="5468"/>
                  </a:cubicBezTo>
                  <a:cubicBezTo>
                    <a:pt x="1090317" y="8968"/>
                    <a:pt x="1092284" y="13717"/>
                    <a:pt x="1092284" y="18668"/>
                  </a:cubicBezTo>
                  <a:lnTo>
                    <a:pt x="1092284" y="924896"/>
                  </a:lnTo>
                  <a:cubicBezTo>
                    <a:pt x="1092284" y="929847"/>
                    <a:pt x="1090317" y="934595"/>
                    <a:pt x="1086816" y="938096"/>
                  </a:cubicBezTo>
                  <a:cubicBezTo>
                    <a:pt x="1083315" y="941597"/>
                    <a:pt x="1078567" y="943564"/>
                    <a:pt x="1073616" y="943564"/>
                  </a:cubicBezTo>
                  <a:lnTo>
                    <a:pt x="18668" y="943564"/>
                  </a:lnTo>
                  <a:cubicBezTo>
                    <a:pt x="13717" y="943564"/>
                    <a:pt x="8968" y="941597"/>
                    <a:pt x="5468" y="938096"/>
                  </a:cubicBezTo>
                  <a:cubicBezTo>
                    <a:pt x="1967" y="934595"/>
                    <a:pt x="0" y="929847"/>
                    <a:pt x="0" y="924896"/>
                  </a:cubicBezTo>
                  <a:lnTo>
                    <a:pt x="0" y="18668"/>
                  </a:lnTo>
                  <a:cubicBezTo>
                    <a:pt x="0" y="13717"/>
                    <a:pt x="1967" y="8968"/>
                    <a:pt x="5468" y="5468"/>
                  </a:cubicBezTo>
                  <a:cubicBezTo>
                    <a:pt x="8968" y="1967"/>
                    <a:pt x="13717" y="0"/>
                    <a:pt x="18668" y="0"/>
                  </a:cubicBezTo>
                  <a:close/>
                </a:path>
              </a:pathLst>
            </a:custGeom>
            <a:solidFill>
              <a:srgbClr val="9FCFF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92284" cy="981664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080"/>
                </a:lnSpc>
              </a:pPr>
              <a:r>
                <a:rPr lang="en-US" b="true" sz="2200" spc="22">
                  <a:solidFill>
                    <a:srgbClr val="1F294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Cluster 0 — Réguliers (3 200 clients) :</a:t>
              </a:r>
            </a:p>
            <a:p>
              <a:pPr algn="ctr">
                <a:lnSpc>
                  <a:spcPts val="3080"/>
                </a:lnSpc>
              </a:pPr>
              <a:r>
                <a:rPr lang="en-US" sz="2200" spc="22">
                  <a:solidFill>
                    <a:srgbClr val="1F294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Augmenter la frequency via cross-sell, recommandations personnalisées, 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837535" y="2998357"/>
            <a:ext cx="4230897" cy="3527709"/>
            <a:chOff x="0" y="0"/>
            <a:chExt cx="1114310" cy="9291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14310" cy="929108"/>
            </a:xfrm>
            <a:custGeom>
              <a:avLst/>
              <a:gdLst/>
              <a:ahLst/>
              <a:cxnLst/>
              <a:rect r="r" b="b" t="t" l="l"/>
              <a:pathLst>
                <a:path h="929108" w="1114310">
                  <a:moveTo>
                    <a:pt x="18299" y="0"/>
                  </a:moveTo>
                  <a:lnTo>
                    <a:pt x="1096012" y="0"/>
                  </a:lnTo>
                  <a:cubicBezTo>
                    <a:pt x="1100865" y="0"/>
                    <a:pt x="1105519" y="1928"/>
                    <a:pt x="1108951" y="5360"/>
                  </a:cubicBezTo>
                  <a:cubicBezTo>
                    <a:pt x="1112382" y="8791"/>
                    <a:pt x="1114310" y="13445"/>
                    <a:pt x="1114310" y="18299"/>
                  </a:cubicBezTo>
                  <a:lnTo>
                    <a:pt x="1114310" y="910810"/>
                  </a:lnTo>
                  <a:cubicBezTo>
                    <a:pt x="1114310" y="920916"/>
                    <a:pt x="1106118" y="929108"/>
                    <a:pt x="1096012" y="929108"/>
                  </a:cubicBezTo>
                  <a:lnTo>
                    <a:pt x="18299" y="929108"/>
                  </a:lnTo>
                  <a:cubicBezTo>
                    <a:pt x="8193" y="929108"/>
                    <a:pt x="0" y="920916"/>
                    <a:pt x="0" y="910810"/>
                  </a:cubicBezTo>
                  <a:lnTo>
                    <a:pt x="0" y="18299"/>
                  </a:lnTo>
                  <a:cubicBezTo>
                    <a:pt x="0" y="8193"/>
                    <a:pt x="8193" y="0"/>
                    <a:pt x="18299" y="0"/>
                  </a:cubicBezTo>
                  <a:close/>
                </a:path>
              </a:pathLst>
            </a:custGeom>
            <a:solidFill>
              <a:srgbClr val="9FCFF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114310" cy="967208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080"/>
                </a:lnSpc>
              </a:pPr>
              <a:r>
                <a:rPr lang="en-US" b="true" sz="2200" spc="22">
                  <a:solidFill>
                    <a:srgbClr val="1F294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Cluster 2 — Inactifs (1 109 clients) :</a:t>
              </a:r>
            </a:p>
            <a:p>
              <a:pPr algn="ctr">
                <a:lnSpc>
                  <a:spcPts val="3080"/>
                </a:lnSpc>
              </a:pPr>
              <a:r>
                <a:rPr lang="en-US" sz="2200" spc="22">
                  <a:solidFill>
                    <a:srgbClr val="1F294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Campagne de réactivation en deux vagues (offre incitative puis dernière relance)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4201469">
            <a:off x="-1165980" y="7429873"/>
            <a:ext cx="4389359" cy="4373398"/>
          </a:xfrm>
          <a:custGeom>
            <a:avLst/>
            <a:gdLst/>
            <a:ahLst/>
            <a:cxnLst/>
            <a:rect r="r" b="b" t="t" l="l"/>
            <a:pathLst>
              <a:path h="4373398" w="4389359">
                <a:moveTo>
                  <a:pt x="0" y="0"/>
                </a:moveTo>
                <a:lnTo>
                  <a:pt x="4389360" y="0"/>
                </a:lnTo>
                <a:lnTo>
                  <a:pt x="4389360" y="4373398"/>
                </a:lnTo>
                <a:lnTo>
                  <a:pt x="0" y="4373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4089119">
            <a:off x="991678" y="9138498"/>
            <a:ext cx="3484112" cy="2787289"/>
          </a:xfrm>
          <a:custGeom>
            <a:avLst/>
            <a:gdLst/>
            <a:ahLst/>
            <a:cxnLst/>
            <a:rect r="r" b="b" t="t" l="l"/>
            <a:pathLst>
              <a:path h="2787289" w="3484112">
                <a:moveTo>
                  <a:pt x="0" y="0"/>
                </a:moveTo>
                <a:lnTo>
                  <a:pt x="3484112" y="0"/>
                </a:lnTo>
                <a:lnTo>
                  <a:pt x="3484112" y="2787289"/>
                </a:lnTo>
                <a:lnTo>
                  <a:pt x="0" y="2787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9964417">
            <a:off x="16068115" y="-385311"/>
            <a:ext cx="3982176" cy="4710100"/>
          </a:xfrm>
          <a:custGeom>
            <a:avLst/>
            <a:gdLst/>
            <a:ahLst/>
            <a:cxnLst/>
            <a:rect r="r" b="b" t="t" l="l"/>
            <a:pathLst>
              <a:path h="4710100" w="3982176">
                <a:moveTo>
                  <a:pt x="0" y="0"/>
                </a:moveTo>
                <a:lnTo>
                  <a:pt x="3982176" y="0"/>
                </a:lnTo>
                <a:lnTo>
                  <a:pt x="3982176" y="4710100"/>
                </a:lnTo>
                <a:lnTo>
                  <a:pt x="0" y="47101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true" rot="-2348536">
            <a:off x="14669629" y="-1604460"/>
            <a:ext cx="3484112" cy="2787289"/>
          </a:xfrm>
          <a:custGeom>
            <a:avLst/>
            <a:gdLst/>
            <a:ahLst/>
            <a:cxnLst/>
            <a:rect r="r" b="b" t="t" l="l"/>
            <a:pathLst>
              <a:path h="2787289" w="3484112">
                <a:moveTo>
                  <a:pt x="3484112" y="2787290"/>
                </a:moveTo>
                <a:lnTo>
                  <a:pt x="0" y="2787290"/>
                </a:lnTo>
                <a:lnTo>
                  <a:pt x="0" y="0"/>
                </a:lnTo>
                <a:lnTo>
                  <a:pt x="3484112" y="0"/>
                </a:lnTo>
                <a:lnTo>
                  <a:pt x="3484112" y="278729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16274" y="6694881"/>
            <a:ext cx="5064168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b="true" sz="2600" spc="26">
                <a:solidFill>
                  <a:srgbClr val="0086B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SUR LA BASE DU MODÈLE PRÉDICTIF :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358855" y="6605275"/>
            <a:ext cx="12709577" cy="3582594"/>
            <a:chOff x="0" y="0"/>
            <a:chExt cx="3347378" cy="94356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347378" cy="943564"/>
            </a:xfrm>
            <a:custGeom>
              <a:avLst/>
              <a:gdLst/>
              <a:ahLst/>
              <a:cxnLst/>
              <a:rect r="r" b="b" t="t" l="l"/>
              <a:pathLst>
                <a:path h="943564" w="3347378">
                  <a:moveTo>
                    <a:pt x="6091" y="0"/>
                  </a:moveTo>
                  <a:lnTo>
                    <a:pt x="3341287" y="0"/>
                  </a:lnTo>
                  <a:cubicBezTo>
                    <a:pt x="3342903" y="0"/>
                    <a:pt x="3344452" y="642"/>
                    <a:pt x="3345594" y="1784"/>
                  </a:cubicBezTo>
                  <a:cubicBezTo>
                    <a:pt x="3346736" y="2926"/>
                    <a:pt x="3347378" y="4476"/>
                    <a:pt x="3347378" y="6091"/>
                  </a:cubicBezTo>
                  <a:lnTo>
                    <a:pt x="3347378" y="937472"/>
                  </a:lnTo>
                  <a:cubicBezTo>
                    <a:pt x="3347378" y="939088"/>
                    <a:pt x="3346736" y="940637"/>
                    <a:pt x="3345594" y="941780"/>
                  </a:cubicBezTo>
                  <a:cubicBezTo>
                    <a:pt x="3344452" y="942922"/>
                    <a:pt x="3342903" y="943564"/>
                    <a:pt x="3341287" y="943564"/>
                  </a:cubicBezTo>
                  <a:lnTo>
                    <a:pt x="6091" y="943564"/>
                  </a:lnTo>
                  <a:cubicBezTo>
                    <a:pt x="4476" y="943564"/>
                    <a:pt x="2926" y="942922"/>
                    <a:pt x="1784" y="941780"/>
                  </a:cubicBezTo>
                  <a:cubicBezTo>
                    <a:pt x="642" y="940637"/>
                    <a:pt x="0" y="939088"/>
                    <a:pt x="0" y="937472"/>
                  </a:cubicBezTo>
                  <a:lnTo>
                    <a:pt x="0" y="6091"/>
                  </a:lnTo>
                  <a:cubicBezTo>
                    <a:pt x="0" y="4476"/>
                    <a:pt x="642" y="2926"/>
                    <a:pt x="1784" y="1784"/>
                  </a:cubicBezTo>
                  <a:cubicBezTo>
                    <a:pt x="2926" y="642"/>
                    <a:pt x="4476" y="0"/>
                    <a:pt x="6091" y="0"/>
                  </a:cubicBezTo>
                  <a:close/>
                </a:path>
              </a:pathLst>
            </a:custGeom>
            <a:solidFill>
              <a:srgbClr val="9FCFF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3347378" cy="991189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ctr">
                <a:lnSpc>
                  <a:spcPts val="3220"/>
                </a:lnSpc>
              </a:pPr>
              <a:r>
                <a:rPr lang="en-US" sz="2300" spc="23">
                  <a:solidFill>
                    <a:srgbClr val="1F294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Le</a:t>
              </a:r>
              <a:r>
                <a:rPr lang="en-US" b="true" sz="2300" spc="23">
                  <a:solidFill>
                    <a:srgbClr val="1F294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 Random Forest </a:t>
              </a:r>
              <a:r>
                <a:rPr lang="en-US" sz="2300" spc="23">
                  <a:solidFill>
                    <a:srgbClr val="1F294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révèle que c'est la régularité et la diversité d'achat, plus que le prix unitaire, qui distinguent les gros dépensiers.</a:t>
              </a:r>
            </a:p>
            <a:p>
              <a:pPr algn="ctr">
                <a:lnSpc>
                  <a:spcPts val="3220"/>
                </a:lnSpc>
              </a:pPr>
            </a:p>
            <a:p>
              <a:pPr algn="ctr">
                <a:lnSpc>
                  <a:spcPts val="3220"/>
                </a:lnSpc>
              </a:pPr>
              <a:r>
                <a:rPr lang="en-US" b="true" sz="2300" spc="23">
                  <a:solidFill>
                    <a:srgbClr val="1F294C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Signaux d'alerte :</a:t>
              </a:r>
              <a:r>
                <a:rPr lang="en-US" sz="2300" spc="23">
                  <a:solidFill>
                    <a:srgbClr val="1F294C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Les clients classifiés « gros dépensier » dont la Frequency commence à baisser doivent déclencher une intervention de rétention avant qu'ils ne migrent vers le Cluster 2 (Inactifs).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10304" y="2277284"/>
            <a:ext cx="4565237" cy="5732432"/>
          </a:xfrm>
          <a:custGeom>
            <a:avLst/>
            <a:gdLst/>
            <a:ahLst/>
            <a:cxnLst/>
            <a:rect r="r" b="b" t="t" l="l"/>
            <a:pathLst>
              <a:path h="5732432" w="4565237">
                <a:moveTo>
                  <a:pt x="0" y="0"/>
                </a:moveTo>
                <a:lnTo>
                  <a:pt x="4565238" y="0"/>
                </a:lnTo>
                <a:lnTo>
                  <a:pt x="4565238" y="5732432"/>
                </a:lnTo>
                <a:lnTo>
                  <a:pt x="0" y="5732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53439" y="542925"/>
            <a:ext cx="14049569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b="true" sz="6399" spc="63">
                <a:solidFill>
                  <a:srgbClr val="0086B3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CONCLUSION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4596961">
            <a:off x="-1406027" y="6709320"/>
            <a:ext cx="4389359" cy="4373398"/>
          </a:xfrm>
          <a:custGeom>
            <a:avLst/>
            <a:gdLst/>
            <a:ahLst/>
            <a:cxnLst/>
            <a:rect r="r" b="b" t="t" l="l"/>
            <a:pathLst>
              <a:path h="4373398" w="4389359">
                <a:moveTo>
                  <a:pt x="0" y="0"/>
                </a:moveTo>
                <a:lnTo>
                  <a:pt x="4389359" y="0"/>
                </a:lnTo>
                <a:lnTo>
                  <a:pt x="4389359" y="4373398"/>
                </a:lnTo>
                <a:lnTo>
                  <a:pt x="0" y="43733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201367">
            <a:off x="557077" y="8324231"/>
            <a:ext cx="3625255" cy="4816160"/>
          </a:xfrm>
          <a:custGeom>
            <a:avLst/>
            <a:gdLst/>
            <a:ahLst/>
            <a:cxnLst/>
            <a:rect r="r" b="b" t="t" l="l"/>
            <a:pathLst>
              <a:path h="4816160" w="3625255">
                <a:moveTo>
                  <a:pt x="0" y="0"/>
                </a:moveTo>
                <a:lnTo>
                  <a:pt x="3625255" y="0"/>
                </a:lnTo>
                <a:lnTo>
                  <a:pt x="3625255" y="4816160"/>
                </a:lnTo>
                <a:lnTo>
                  <a:pt x="0" y="48161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0123381">
            <a:off x="15547033" y="-668114"/>
            <a:ext cx="3876074" cy="4007220"/>
          </a:xfrm>
          <a:custGeom>
            <a:avLst/>
            <a:gdLst/>
            <a:ahLst/>
            <a:cxnLst/>
            <a:rect r="r" b="b" t="t" l="l"/>
            <a:pathLst>
              <a:path h="4007220" w="3876074">
                <a:moveTo>
                  <a:pt x="0" y="0"/>
                </a:moveTo>
                <a:lnTo>
                  <a:pt x="3876075" y="0"/>
                </a:lnTo>
                <a:lnTo>
                  <a:pt x="3876075" y="4007220"/>
                </a:lnTo>
                <a:lnTo>
                  <a:pt x="0" y="40072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60293">
            <a:off x="14240364" y="-1393983"/>
            <a:ext cx="2725288" cy="3620552"/>
          </a:xfrm>
          <a:custGeom>
            <a:avLst/>
            <a:gdLst/>
            <a:ahLst/>
            <a:cxnLst/>
            <a:rect r="r" b="b" t="t" l="l"/>
            <a:pathLst>
              <a:path h="3620552" w="2725288">
                <a:moveTo>
                  <a:pt x="0" y="0"/>
                </a:moveTo>
                <a:lnTo>
                  <a:pt x="2725288" y="0"/>
                </a:lnTo>
                <a:lnTo>
                  <a:pt x="2725288" y="3620552"/>
                </a:lnTo>
                <a:lnTo>
                  <a:pt x="0" y="362055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194626" y="1916747"/>
            <a:ext cx="12767194" cy="556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9"/>
              </a:lnSpc>
            </a:pPr>
            <a:r>
              <a:rPr lang="en-US" sz="2599" b="true">
                <a:solidFill>
                  <a:srgbClr val="1F294C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Récapulatif Segmentation :</a:t>
            </a:r>
            <a:r>
              <a:rPr lang="en-US" sz="2599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 BisectingKMeans (Silhouette = 0.74) identifie 3 segments RFM : VIP (25), Réguliers (3 200), Inactifs (1 109). Surpasse le GMM (0.18).</a:t>
            </a:r>
          </a:p>
          <a:p>
            <a:pPr algn="l">
              <a:lnSpc>
                <a:spcPts val="3379"/>
              </a:lnSpc>
            </a:pPr>
          </a:p>
          <a:p>
            <a:pPr algn="l">
              <a:lnSpc>
                <a:spcPts val="3379"/>
              </a:lnSpc>
            </a:pPr>
            <a:r>
              <a:rPr lang="en-US" sz="2599" b="true">
                <a:solidFill>
                  <a:srgbClr val="1F294C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Récapulatif Classification : </a:t>
            </a:r>
            <a:r>
              <a:rPr lang="en-US" sz="2599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Random Forest corrigé : 87% accuracy, F1 = 0.88 (7 features). Features clés : Frequency, UniqueProducts, OrderFrequencyRate.</a:t>
            </a:r>
          </a:p>
          <a:p>
            <a:pPr algn="l">
              <a:lnSpc>
                <a:spcPts val="3379"/>
              </a:lnSpc>
            </a:pPr>
          </a:p>
          <a:p>
            <a:pPr algn="l">
              <a:lnSpc>
                <a:spcPts val="3379"/>
              </a:lnSpc>
            </a:pPr>
            <a:r>
              <a:rPr lang="en-US" sz="2599" b="true">
                <a:solidFill>
                  <a:srgbClr val="1F294C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Limites : </a:t>
            </a:r>
            <a:r>
              <a:rPr lang="en-US" sz="2599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Dataset mono-commerce, ~1 an de données, pas de données démographiques.</a:t>
            </a:r>
          </a:p>
          <a:p>
            <a:pPr algn="l">
              <a:lnSpc>
                <a:spcPts val="3379"/>
              </a:lnSpc>
            </a:pPr>
          </a:p>
          <a:p>
            <a:pPr algn="l">
              <a:lnSpc>
                <a:spcPts val="3379"/>
              </a:lnSpc>
            </a:pPr>
            <a:r>
              <a:rPr lang="en-US" sz="2599" b="true">
                <a:solidFill>
                  <a:srgbClr val="1F294C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Améliorations </a:t>
            </a:r>
            <a:r>
              <a:rPr lang="en-US" sz="2599">
                <a:solidFill>
                  <a:srgbClr val="1F294C"/>
                </a:solidFill>
                <a:latin typeface="Proxima Nova"/>
                <a:ea typeface="Proxima Nova"/>
                <a:cs typeface="Proxima Nova"/>
                <a:sym typeface="Proxima Nova"/>
              </a:rPr>
              <a:t>: Transformation log pré-clustering pour le cluster ; reformulation en prédiction de churn pour le random forrest</a:t>
            </a:r>
          </a:p>
          <a:p>
            <a:pPr algn="l">
              <a:lnSpc>
                <a:spcPts val="3379"/>
              </a:lnSpc>
            </a:pPr>
          </a:p>
          <a:p>
            <a:pPr algn="l">
              <a:lnSpc>
                <a:spcPts val="3379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DAHBfUohAFM</dc:identifier>
  <dcterms:modified xsi:type="dcterms:W3CDTF">2011-08-01T06:04:30Z</dcterms:modified>
  <cp:revision>1</cp:revision>
  <dc:title>Université</dc:title>
</cp:coreProperties>
</file>